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2" r:id="rId5"/>
    <p:sldId id="263" r:id="rId6"/>
    <p:sldId id="28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7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5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7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8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1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6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4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7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78462-CCA5-4CFA-A196-17550FE0A9E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6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E78462-CCA5-4CFA-A196-17550FE0A9E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Metaphors</a:t>
            </a:r>
            <a:endParaRPr lang="en-US" sz="40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 lnSpcReduction="10000"/>
          </a:bodyPr>
          <a:lstStyle/>
          <a:p>
            <a:endParaRPr lang="en-US" sz="2400" dirty="0"/>
          </a:p>
          <a:p>
            <a:r>
              <a:rPr lang="en-US" sz="2400" dirty="0"/>
              <a:t>[Metaphor is a] thing considered as representative of some other (usually </a:t>
            </a:r>
            <a:r>
              <a:rPr lang="en-US" sz="2400" dirty="0" smtClean="0"/>
              <a:t>abstract) thing</a:t>
            </a:r>
          </a:p>
          <a:p>
            <a:r>
              <a:rPr lang="en-US" sz="2400" dirty="0" smtClean="0"/>
              <a:t>Metaphors </a:t>
            </a:r>
            <a:r>
              <a:rPr lang="en-US" sz="2400" dirty="0"/>
              <a:t>create relationships between things that are not directly equivalent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[Metaphor is a] ﬁgure of speech in which a name or descriptive word or phrase is transferred to an object or action diﬀerent from, but analogous to, that to which it is literally applicable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This identiﬁes two important qualities of metaphor: diﬀerence and analogy</a:t>
            </a:r>
            <a:r>
              <a:rPr lang="en-US" sz="2400" dirty="0" smtClean="0"/>
              <a:t>.</a:t>
            </a:r>
          </a:p>
          <a:p>
            <a:r>
              <a:rPr lang="en-US" sz="2400" dirty="0"/>
              <a:t>The quality of diﬀerence is important because if there were no diﬀerence involved, </a:t>
            </a:r>
            <a:r>
              <a:rPr lang="en-US" sz="2400" dirty="0" smtClean="0"/>
              <a:t>the metaphor </a:t>
            </a:r>
            <a:r>
              <a:rPr lang="en-US" sz="2400" dirty="0"/>
              <a:t>would just be a statement of identity. </a:t>
            </a:r>
            <a:endParaRPr lang="en-US" sz="2400" dirty="0" smtClean="0"/>
          </a:p>
          <a:p>
            <a:r>
              <a:rPr lang="en-US" sz="2400" dirty="0" smtClean="0"/>
              <a:t>The essential </a:t>
            </a:r>
            <a:r>
              <a:rPr lang="en-US" sz="2400" dirty="0"/>
              <a:t>diﬀerence is what distinguishes the two concepts, the analogy </a:t>
            </a:r>
            <a:r>
              <a:rPr lang="en-US" sz="2400" dirty="0" smtClean="0"/>
              <a:t>draws them </a:t>
            </a:r>
            <a:r>
              <a:rPr lang="en-US" sz="2400" dirty="0"/>
              <a:t>together and allows thinking of one in terms of the other. In this way, interesting </a:t>
            </a:r>
            <a:r>
              <a:rPr lang="en-US" sz="2400" dirty="0" smtClean="0"/>
              <a:t>unions can </a:t>
            </a:r>
            <a:r>
              <a:rPr lang="en-US" sz="2400" dirty="0"/>
              <a:t>be formed which allow us to understand concepts in unique and often useful ways.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188085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Metaphors (Contd.)</a:t>
            </a:r>
            <a:endParaRPr lang="en-US" sz="40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9144000" cy="617220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800" i="1" u="sng" dirty="0" smtClean="0"/>
              <a:t>A </a:t>
            </a:r>
            <a:r>
              <a:rPr lang="en-US" sz="2800" i="1" u="sng" dirty="0"/>
              <a:t>device for explaining some concept or thing by asserting its </a:t>
            </a:r>
            <a:r>
              <a:rPr lang="en-US" sz="2800" i="1" u="sng" dirty="0" smtClean="0"/>
              <a:t>similarity </a:t>
            </a:r>
            <a:r>
              <a:rPr lang="en-US" sz="2800" i="1" u="sng" dirty="0"/>
              <a:t>to another concept or thing.</a:t>
            </a:r>
          </a:p>
          <a:p>
            <a:r>
              <a:rPr lang="en-US" sz="2400" dirty="0"/>
              <a:t>Additionally:</a:t>
            </a:r>
          </a:p>
          <a:p>
            <a:pPr lvl="1"/>
            <a:r>
              <a:rPr lang="en-US" sz="2400" dirty="0" smtClean="0"/>
              <a:t>Metaphor </a:t>
            </a:r>
            <a:r>
              <a:rPr lang="en-US" sz="2400" dirty="0"/>
              <a:t>is, by deﬁnition, inexact.</a:t>
            </a:r>
          </a:p>
          <a:p>
            <a:pPr lvl="1"/>
            <a:r>
              <a:rPr lang="en-US" sz="2400" dirty="0" smtClean="0"/>
              <a:t>Metaphor </a:t>
            </a:r>
            <a:r>
              <a:rPr lang="en-US" sz="2400" dirty="0"/>
              <a:t>is interpreted contextually at many levels, from single individuals to </a:t>
            </a:r>
            <a:r>
              <a:rPr lang="en-US" sz="2400" dirty="0" smtClean="0"/>
              <a:t>large scale </a:t>
            </a:r>
            <a:r>
              <a:rPr lang="en-US" sz="2400" dirty="0"/>
              <a:t>culture, and everything in-between.</a:t>
            </a:r>
          </a:p>
          <a:p>
            <a:pPr lvl="1"/>
            <a:r>
              <a:rPr lang="en-US" sz="2400" dirty="0" smtClean="0"/>
              <a:t>Metaphor </a:t>
            </a:r>
            <a:r>
              <a:rPr lang="en-US" sz="2400" dirty="0"/>
              <a:t>functions within a system of thought, not in isolation.</a:t>
            </a:r>
          </a:p>
          <a:p>
            <a:pPr lvl="1"/>
            <a:r>
              <a:rPr lang="en-US" sz="2400" dirty="0" smtClean="0"/>
              <a:t>Metaphor </a:t>
            </a:r>
            <a:r>
              <a:rPr lang="en-US" sz="2400" dirty="0"/>
              <a:t>may be one of the key methods humans have for understanding new concepts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372431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334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Metaphors and Computing</a:t>
            </a:r>
            <a:endParaRPr lang="en-US" sz="32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9144000" cy="6400800"/>
          </a:xfrm>
        </p:spPr>
        <p:txBody>
          <a:bodyPr>
            <a:normAutofit fontScale="92500"/>
          </a:bodyPr>
          <a:lstStyle/>
          <a:p>
            <a:r>
              <a:rPr lang="en-US" sz="2400" dirty="0" smtClean="0"/>
              <a:t>Computers </a:t>
            </a:r>
            <a:r>
              <a:rPr lang="en-US" sz="2400" dirty="0"/>
              <a:t>are not the only devices made more accessible through metaphor. </a:t>
            </a:r>
            <a:endParaRPr lang="en-US" sz="2400" dirty="0" smtClean="0"/>
          </a:p>
          <a:p>
            <a:r>
              <a:rPr lang="en-US" sz="2400" dirty="0" smtClean="0"/>
              <a:t>Metaphors are </a:t>
            </a:r>
            <a:r>
              <a:rPr lang="en-US" sz="2400" dirty="0"/>
              <a:t>used to help coping with the complexities of any new </a:t>
            </a:r>
            <a:r>
              <a:rPr lang="en-US" sz="2400" dirty="0" smtClean="0"/>
              <a:t>technology.</a:t>
            </a:r>
          </a:p>
          <a:p>
            <a:r>
              <a:rPr lang="en-US" sz="2400" dirty="0" smtClean="0"/>
              <a:t>The transition from </a:t>
            </a:r>
            <a:r>
              <a:rPr lang="en-US" sz="2400" dirty="0"/>
              <a:t>old technology to new is eased by </a:t>
            </a:r>
            <a:r>
              <a:rPr lang="en-US" sz="2400" dirty="0" smtClean="0"/>
              <a:t>metaphor.</a:t>
            </a:r>
          </a:p>
          <a:p>
            <a:r>
              <a:rPr lang="en-US" sz="2400" dirty="0"/>
              <a:t>When new </a:t>
            </a:r>
            <a:r>
              <a:rPr lang="en-US" sz="2400" dirty="0" smtClean="0"/>
              <a:t>technologies arrive </a:t>
            </a:r>
            <a:r>
              <a:rPr lang="en-US" sz="2400" dirty="0"/>
              <a:t>new metaphors are found to apply to them. </a:t>
            </a:r>
            <a:endParaRPr lang="en-US" sz="2400" dirty="0" smtClean="0"/>
          </a:p>
          <a:p>
            <a:r>
              <a:rPr lang="en-US" sz="2400" dirty="0"/>
              <a:t>T</a:t>
            </a:r>
            <a:r>
              <a:rPr lang="en-US" sz="2400" dirty="0" smtClean="0"/>
              <a:t>here </a:t>
            </a:r>
            <a:r>
              <a:rPr lang="en-US" sz="2400" dirty="0"/>
              <a:t>are diﬀerent levels at which one can understand computers. </a:t>
            </a:r>
            <a:endParaRPr lang="en-US" sz="2400" dirty="0" smtClean="0"/>
          </a:p>
          <a:p>
            <a:r>
              <a:rPr lang="en-US" sz="2400" dirty="0" smtClean="0"/>
              <a:t>People who </a:t>
            </a:r>
            <a:r>
              <a:rPr lang="en-US" sz="2400" dirty="0"/>
              <a:t>must deal with each of these levels tend to use metaphor in some way to make </a:t>
            </a:r>
            <a:r>
              <a:rPr lang="en-US" sz="2400" dirty="0" smtClean="0"/>
              <a:t>the complexity </a:t>
            </a:r>
            <a:r>
              <a:rPr lang="en-US" sz="2400" dirty="0"/>
              <a:t>more bearable, from chip-designers through to ordinary users. </a:t>
            </a:r>
            <a:endParaRPr lang="en-US" sz="2400" dirty="0" smtClean="0"/>
          </a:p>
          <a:p>
            <a:r>
              <a:rPr lang="en-US" sz="2400" b="1" dirty="0" smtClean="0"/>
              <a:t>The user-interface, however</a:t>
            </a:r>
            <a:r>
              <a:rPr lang="en-US" sz="2400" b="1" dirty="0"/>
              <a:t>, is probably the richest source of metaphors in computers. </a:t>
            </a:r>
            <a:endParaRPr lang="en-US" sz="2400" b="1" dirty="0" smtClean="0"/>
          </a:p>
          <a:p>
            <a:r>
              <a:rPr lang="en-US" sz="2400" dirty="0" smtClean="0"/>
              <a:t>This </a:t>
            </a:r>
            <a:r>
              <a:rPr lang="en-US" sz="2400" dirty="0"/>
              <a:t>is because </a:t>
            </a:r>
            <a:r>
              <a:rPr lang="en-US" sz="2400" b="1" dirty="0"/>
              <a:t>the </a:t>
            </a:r>
            <a:r>
              <a:rPr lang="en-US" sz="2400" b="1" dirty="0" smtClean="0"/>
              <a:t>average user </a:t>
            </a:r>
            <a:r>
              <a:rPr lang="en-US" sz="2400" b="1" dirty="0"/>
              <a:t>of a computer is the least likely of any kind of computer-user to have an </a:t>
            </a:r>
            <a:r>
              <a:rPr lang="en-US" sz="2400" b="1" dirty="0" smtClean="0"/>
              <a:t>understanding of </a:t>
            </a:r>
            <a:r>
              <a:rPr lang="en-US" sz="2400" b="1" dirty="0"/>
              <a:t>how their computer really functions. </a:t>
            </a:r>
            <a:endParaRPr lang="en-US" sz="2400" b="1" dirty="0" smtClean="0"/>
          </a:p>
          <a:p>
            <a:r>
              <a:rPr lang="en-US" sz="2400" dirty="0" smtClean="0"/>
              <a:t>In </a:t>
            </a:r>
            <a:r>
              <a:rPr lang="en-US" sz="2400" dirty="0"/>
              <a:t>fact, </a:t>
            </a:r>
            <a:r>
              <a:rPr lang="en-US" sz="2400" b="1" dirty="0"/>
              <a:t>user understanding may be based </a:t>
            </a:r>
            <a:r>
              <a:rPr lang="en-US" sz="2400" b="1" dirty="0" smtClean="0"/>
              <a:t>almost entirely </a:t>
            </a:r>
            <a:r>
              <a:rPr lang="en-US" sz="2400" b="1" dirty="0"/>
              <a:t>on metaphors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1838971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334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User-Interface Metaphor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9144000" cy="6400800"/>
          </a:xfrm>
        </p:spPr>
        <p:txBody>
          <a:bodyPr>
            <a:normAutofit/>
          </a:bodyPr>
          <a:lstStyle/>
          <a:p>
            <a:r>
              <a:rPr lang="en-US" sz="2400" dirty="0"/>
              <a:t>Metaphor is a device for explaining one concept by identifying it with another. </a:t>
            </a:r>
            <a:endParaRPr lang="en-US" sz="2400" dirty="0" smtClean="0"/>
          </a:p>
          <a:p>
            <a:r>
              <a:rPr lang="en-US" sz="2400" dirty="0" smtClean="0"/>
              <a:t>It is safe </a:t>
            </a:r>
            <a:r>
              <a:rPr lang="en-US" sz="2400" dirty="0"/>
              <a:t>to say that, with user-interface metaphors, what is being explained is the </a:t>
            </a:r>
            <a:r>
              <a:rPr lang="en-US" sz="2400" dirty="0" smtClean="0"/>
              <a:t>underlying functionality </a:t>
            </a:r>
            <a:r>
              <a:rPr lang="en-US" sz="2400" dirty="0"/>
              <a:t>and characteristics of the software which the interface gives access to. </a:t>
            </a:r>
            <a:endParaRPr lang="en-US" sz="2400" dirty="0" smtClean="0"/>
          </a:p>
          <a:p>
            <a:r>
              <a:rPr lang="en-US" sz="2400" i="1" dirty="0"/>
              <a:t>A device for explaining some system </a:t>
            </a:r>
            <a:r>
              <a:rPr lang="en-US" sz="2400" i="1" dirty="0" smtClean="0"/>
              <a:t>functionality or </a:t>
            </a:r>
            <a:r>
              <a:rPr lang="en-US" sz="2400" i="1" dirty="0"/>
              <a:t>structure by asserting its similarity to another concept or thing already </a:t>
            </a:r>
            <a:r>
              <a:rPr lang="en-US" sz="2400" i="1" dirty="0" smtClean="0"/>
              <a:t>familiar to </a:t>
            </a:r>
            <a:r>
              <a:rPr lang="en-US" sz="2400" i="1" dirty="0"/>
              <a:t>the user</a:t>
            </a:r>
            <a:r>
              <a:rPr lang="en-US" sz="2400" i="1" dirty="0" smtClean="0"/>
              <a:t>.</a:t>
            </a:r>
          </a:p>
          <a:p>
            <a:pPr lvl="1"/>
            <a:r>
              <a:rPr lang="en-US" sz="2000" b="1" dirty="0" smtClean="0"/>
              <a:t>Example 1: </a:t>
            </a:r>
            <a:r>
              <a:rPr lang="en-US" sz="2000" dirty="0" smtClean="0"/>
              <a:t>Consider </a:t>
            </a:r>
            <a:r>
              <a:rPr lang="en-US" sz="2000" dirty="0"/>
              <a:t>a familiar example of a user-interface metaphor: the “trashcan” . It would perhaps be something like “ﬁle </a:t>
            </a:r>
            <a:r>
              <a:rPr lang="en-US" sz="2000" dirty="0" smtClean="0"/>
              <a:t>deletion is </a:t>
            </a:r>
            <a:r>
              <a:rPr lang="en-US" sz="2000" dirty="0"/>
              <a:t>using a trashcan”. Clearly, this is metaphoric because it uses something familiar to the user (a trash-can) to represent an aspect of the system that might otherwise be confusing (ﬁle deletion and management). The trash-can explains certain features of ﬁle-deletion in the system. You can place unwanted items into the trash-can to get rid of them, and you can get them back if you are in time. </a:t>
            </a:r>
            <a:r>
              <a:rPr lang="en-US" sz="2000" dirty="0" smtClean="0"/>
              <a:t>Additionally, the </a:t>
            </a:r>
            <a:r>
              <a:rPr lang="en-US" sz="2000" dirty="0"/>
              <a:t>trashcan is a perceivable aspect of the system, using the user’s visual sense to convey the metaphor as well as the </a:t>
            </a:r>
            <a:r>
              <a:rPr lang="en-US" sz="2000" dirty="0" smtClean="0"/>
              <a:t>kinesthetic </a:t>
            </a:r>
            <a:r>
              <a:rPr lang="en-US" sz="2000" dirty="0"/>
              <a:t>sense of “putting” items into it.</a:t>
            </a: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427916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33400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User-Interface </a:t>
            </a:r>
            <a:r>
              <a:rPr lang="en-US" sz="3200" dirty="0" smtClean="0"/>
              <a:t>Metaphor (Contd.)</a:t>
            </a:r>
            <a:endParaRPr lang="en-US" sz="32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457200"/>
            <a:ext cx="9144000" cy="6400800"/>
          </a:xfrm>
        </p:spPr>
        <p:txBody>
          <a:bodyPr>
            <a:normAutofit/>
          </a:bodyPr>
          <a:lstStyle/>
          <a:p>
            <a:pPr lvl="1"/>
            <a:r>
              <a:rPr lang="en-US" sz="2000" b="1" dirty="0" smtClean="0"/>
              <a:t>Example 2: </a:t>
            </a:r>
            <a:r>
              <a:rPr lang="en-US" sz="2000" dirty="0"/>
              <a:t>Probably the best known user-interface metaphor is the “desktop metaphor”. This metaphor is present in the graphical interfaces of many modern operating systems. It is perceived through a collection of </a:t>
            </a:r>
            <a:r>
              <a:rPr lang="en-US" sz="2000" dirty="0" smtClean="0"/>
              <a:t>sub metaphors </a:t>
            </a:r>
            <a:r>
              <a:rPr lang="en-US" sz="2000" dirty="0"/>
              <a:t>such as the trash-can, documents and the actual “desktop” surface. The desktop metaphor may be more appropriately called the “oﬃce metaphor”, in fact, as the collection of sub-metaphors more accurately </a:t>
            </a:r>
            <a:r>
              <a:rPr lang="en-US" sz="2000" dirty="0" smtClean="0"/>
              <a:t>characterizes </a:t>
            </a:r>
            <a:r>
              <a:rPr lang="en-US" sz="2000" dirty="0"/>
              <a:t>an oﬃce working environment. The metaphor exists to help the user understand the function of their computer system as the working of an oﬃce, particularly as relates to data management. </a:t>
            </a:r>
            <a:endParaRPr lang="en-US" sz="2000" dirty="0" smtClean="0"/>
          </a:p>
          <a:p>
            <a:r>
              <a:rPr lang="en-US" sz="2400" dirty="0"/>
              <a:t>The user encounters “ﬁles” and “folders” as ways of representing the more complex data structures that the computer really uses. </a:t>
            </a:r>
            <a:r>
              <a:rPr lang="en-US" sz="2400" dirty="0" smtClean="0"/>
              <a:t> </a:t>
            </a:r>
            <a:r>
              <a:rPr lang="en-US" sz="2400" b="1" dirty="0" smtClean="0"/>
              <a:t>This </a:t>
            </a:r>
            <a:r>
              <a:rPr lang="en-US" sz="2400" b="1" dirty="0"/>
              <a:t>raises the interesting point that metaphors can be applied at diﬀerent levels. They can be more overarching, </a:t>
            </a:r>
            <a:r>
              <a:rPr lang="en-US" sz="2400" b="1" dirty="0" smtClean="0"/>
              <a:t>organization </a:t>
            </a:r>
            <a:r>
              <a:rPr lang="en-US" sz="2400" b="1" dirty="0"/>
              <a:t>metaphors, such as the desktop; more speciﬁc, like the trash-can metaphor; or even quite subtle and unnoticed, such as the traﬃc light metaphor.</a:t>
            </a:r>
          </a:p>
        </p:txBody>
      </p:sp>
    </p:spTree>
    <p:extLst>
      <p:ext uri="{BB962C8B-B14F-4D97-AF65-F5344CB8AC3E}">
        <p14:creationId xmlns:p14="http://schemas.microsoft.com/office/powerpoint/2010/main" val="22275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14400"/>
          </a:xfrm>
        </p:spPr>
        <p:txBody>
          <a:bodyPr>
            <a:normAutofit/>
          </a:bodyPr>
          <a:lstStyle/>
          <a:p>
            <a:r>
              <a:rPr lang="en-GB" altLang="en-US" sz="2800" b="1" dirty="0"/>
              <a:t>Problems with </a:t>
            </a:r>
            <a:r>
              <a:rPr lang="en-GB" altLang="en-US" sz="2800" b="1" dirty="0" smtClean="0"/>
              <a:t>Interface Metaphors </a:t>
            </a:r>
            <a:endParaRPr lang="en-US" altLang="en-US" sz="3200" b="1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0" y="1143000"/>
            <a:ext cx="9144000" cy="5715000"/>
          </a:xfrm>
        </p:spPr>
        <p:txBody>
          <a:bodyPr>
            <a:normAutofit/>
          </a:bodyPr>
          <a:lstStyle/>
          <a:p>
            <a:r>
              <a:rPr lang="en-GB" altLang="en-US" sz="2800" dirty="0"/>
              <a:t>Sometimes they break conventional and cultural rules</a:t>
            </a:r>
          </a:p>
          <a:p>
            <a:pPr lvl="1"/>
            <a:r>
              <a:rPr lang="en-GB" altLang="en-US" dirty="0"/>
              <a:t>e.g. recycle bin placed on desktop</a:t>
            </a:r>
          </a:p>
          <a:p>
            <a:r>
              <a:rPr lang="en-GB" altLang="en-US" sz="2800" dirty="0"/>
              <a:t>Can overly constrain designers in the way they conceptualize a problem space</a:t>
            </a:r>
          </a:p>
          <a:p>
            <a:r>
              <a:rPr lang="en-GB" altLang="en-US" sz="2800" dirty="0"/>
              <a:t>May conflict with principles of good design</a:t>
            </a:r>
          </a:p>
          <a:p>
            <a:r>
              <a:rPr lang="en-GB" altLang="en-US" sz="2800" dirty="0"/>
              <a:t>Forces users to understand the system in terms of the metaphor</a:t>
            </a:r>
          </a:p>
          <a:p>
            <a:r>
              <a:rPr lang="en-GB" altLang="en-US" sz="2800" dirty="0"/>
              <a:t>Designers can inadvertently use bad existing designs and transfer the bad parts into the new designs</a:t>
            </a:r>
          </a:p>
          <a:p>
            <a:r>
              <a:rPr lang="en-GB" altLang="en-US" sz="2800" dirty="0"/>
              <a:t>Limits designers’ imagination in coming up with new conceptual models</a:t>
            </a:r>
            <a:endParaRPr lang="en-US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777061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856</Words>
  <Application>Microsoft Office PowerPoint</Application>
  <PresentationFormat>On-screen Show (4:3)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Metaphors</vt:lpstr>
      <vt:lpstr>Metaphors (Contd.)</vt:lpstr>
      <vt:lpstr>Metaphors and Computing</vt:lpstr>
      <vt:lpstr>User-Interface Metaphor</vt:lpstr>
      <vt:lpstr>User-Interface Metaphor (Contd.)</vt:lpstr>
      <vt:lpstr>Problems with Interface Metaphors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Analysis</dc:title>
  <dc:creator>gulraiz</dc:creator>
  <cp:lastModifiedBy>Farhana Ashraf</cp:lastModifiedBy>
  <cp:revision>165</cp:revision>
  <dcterms:created xsi:type="dcterms:W3CDTF">2014-08-12T16:29:38Z</dcterms:created>
  <dcterms:modified xsi:type="dcterms:W3CDTF">2025-11-20T05:17:41Z</dcterms:modified>
</cp:coreProperties>
</file>