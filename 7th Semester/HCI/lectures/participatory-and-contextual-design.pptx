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7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62" autoAdjust="0"/>
  </p:normalViewPr>
  <p:slideViewPr>
    <p:cSldViewPr>
      <p:cViewPr varScale="1">
        <p:scale>
          <a:sx n="69" d="100"/>
          <a:sy n="69" d="100"/>
        </p:scale>
        <p:origin x="1410" y="48"/>
      </p:cViewPr>
      <p:guideLst>
        <p:guide orient="horz" pos="2160"/>
        <p:guide pos="2880"/>
      </p:guideLst>
    </p:cSldViewPr>
  </p:slideViewPr>
  <p:outlineViewPr>
    <p:cViewPr>
      <p:scale>
        <a:sx n="33" d="100"/>
        <a:sy n="33" d="100"/>
      </p:scale>
      <p:origin x="48" y="19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12/31/2024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12/31/2024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12/31/2024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12/31/2024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nteraction-design.org/literature/topics/product-design" TargetMode="External"/><Relationship Id="rId2" Type="http://schemas.openxmlformats.org/officeDocument/2006/relationships/hyperlink" Target="https://www.interaction-design.org/literature/topics/codesig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interaction-design.org/literature/topics/bia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interaction-design.org/literature/topics/workshops" TargetMode="External"/><Relationship Id="rId2" Type="http://schemas.openxmlformats.org/officeDocument/2006/relationships/hyperlink" Target="https://www.interaction-design.org/literature/topics/stakeholders" TargetMode="External"/><Relationship Id="rId1" Type="http://schemas.openxmlformats.org/officeDocument/2006/relationships/slideLayout" Target="../slideLayouts/slideLayout2.xml"/><Relationship Id="rId4" Type="http://schemas.openxmlformats.org/officeDocument/2006/relationships/hyperlink" Target="https://www.interaction-design.org/literature/topics/brainstorming"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interaction-design.org/literature/topics/prototypes" TargetMode="External"/><Relationship Id="rId2" Type="http://schemas.openxmlformats.org/officeDocument/2006/relationships/hyperlink" Target="https://www.interaction-design.org/literature/topics/design-iteration" TargetMode="External"/><Relationship Id="rId1" Type="http://schemas.openxmlformats.org/officeDocument/2006/relationships/slideLayout" Target="../slideLayouts/slideLayout2.xml"/><Relationship Id="rId5" Type="http://schemas.openxmlformats.org/officeDocument/2006/relationships/hyperlink" Target="https://www.interaction-design.org/literature/topics/user-needs" TargetMode="External"/><Relationship Id="rId4" Type="http://schemas.openxmlformats.org/officeDocument/2006/relationships/hyperlink" Target="https://www.interaction-design.org/literature/topics/iterative-developmen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interaction-design.org/literature/topics/ux-designers" TargetMode="External"/><Relationship Id="rId2" Type="http://schemas.openxmlformats.org/officeDocument/2006/relationships/hyperlink" Target="https://www.interaction-design.org/literature/topics/ux-desig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interaction-design.org/literature/topics/idea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hci.cs.siue.edu/NSF/Files/Pubs/SIGCSE2001/SIGCSE%20Paper%20Contextual%20Design.pdf" TargetMode="External"/><Relationship Id="rId2" Type="http://schemas.openxmlformats.org/officeDocument/2006/relationships/hyperlink" Target="https://www.interaction-design.org/literature/topics/participatory-design" TargetMode="External"/><Relationship Id="rId1" Type="http://schemas.openxmlformats.org/officeDocument/2006/relationships/slideLayout" Target="../slideLayouts/slideLayout2.xml"/><Relationship Id="rId4" Type="http://schemas.openxmlformats.org/officeDocument/2006/relationships/hyperlink" Target="https://www.interaction-design.org/literature/book/the-encyclopedia-of-human-computer-interaction-2nd-ed/contextual-desig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b="1" dirty="0"/>
              <a:t>What is Participatory Design</a:t>
            </a:r>
            <a:r>
              <a:rPr lang="en-US" b="1" dirty="0" smtClean="0"/>
              <a:t>?</a:t>
            </a:r>
            <a:endParaRPr lang="en-US"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dirty="0"/>
              <a:t>Participatory design is a </a:t>
            </a:r>
            <a:r>
              <a:rPr lang="en-US" u="sng" dirty="0">
                <a:hlinkClick r:id="rId2" tooltip="What is Codesign?"/>
              </a:rPr>
              <a:t>collaborative design</a:t>
            </a:r>
            <a:r>
              <a:rPr lang="en-US" dirty="0"/>
              <a:t> approach that involves end-users in the design process. Its aim is to create products and services that better meet the needs and expectations of users by applying their knowledge and experiences.</a:t>
            </a:r>
          </a:p>
          <a:p>
            <a:r>
              <a:rPr lang="en-US" dirty="0"/>
              <a:t>Participatory design is also known as cooperative design, co-design or community design. Various fields use it, including architecture, urban planning, UX and </a:t>
            </a:r>
            <a:r>
              <a:rPr lang="en-US" u="sng" dirty="0">
                <a:hlinkClick r:id="rId3" tooltip="What is Product Design?"/>
              </a:rPr>
              <a:t>product design</a:t>
            </a:r>
            <a:r>
              <a:rPr lang="en-US" dirty="0"/>
              <a:t>.</a:t>
            </a:r>
          </a:p>
          <a:p>
            <a:endParaRPr lang="en-US" sz="2400"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b="1" dirty="0"/>
              <a:t>The Principles of Participatory Design</a:t>
            </a:r>
            <a:endParaRPr lang="en-US"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dirty="0" smtClean="0"/>
              <a:t>Participatory </a:t>
            </a:r>
            <a:r>
              <a:rPr lang="en-US" dirty="0"/>
              <a:t>design is built on the principles of collaboration, co-creation, and empowerment. Users contribute to the design process, which allows them to provide feedback, suggest ideas, and participate in decision-making. </a:t>
            </a:r>
            <a:endParaRPr lang="en-US" dirty="0" smtClean="0"/>
          </a:p>
          <a:p>
            <a:r>
              <a:rPr lang="en-US" dirty="0" smtClean="0"/>
              <a:t>The </a:t>
            </a:r>
            <a:r>
              <a:rPr lang="en-US" dirty="0"/>
              <a:t>goal is to create products and services that accommodate users’ needs and help them achieve their objectives.</a:t>
            </a:r>
          </a:p>
          <a:p>
            <a:endParaRPr lang="en-US" sz="2400" dirty="0" smtClean="0"/>
          </a:p>
        </p:txBody>
      </p:sp>
    </p:spTree>
    <p:extLst>
      <p:ext uri="{BB962C8B-B14F-4D97-AF65-F5344CB8AC3E}">
        <p14:creationId xmlns:p14="http://schemas.microsoft.com/office/powerpoint/2010/main" val="14750147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b="1" dirty="0"/>
              <a:t>Key Aspects of Participatory Design</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dirty="0"/>
              <a:t>This method arose from a need to diversify educational backgrounds and life experiences for designs used by a broad range of people</a:t>
            </a:r>
            <a:r>
              <a:rPr lang="en-US" dirty="0" smtClean="0"/>
              <a:t>.</a:t>
            </a:r>
          </a:p>
          <a:p>
            <a:r>
              <a:rPr lang="en-US" dirty="0" smtClean="0"/>
              <a:t> </a:t>
            </a:r>
            <a:r>
              <a:rPr lang="en-US" dirty="0"/>
              <a:t>Tech industries have traditionally struggled over </a:t>
            </a:r>
            <a:r>
              <a:rPr lang="en-US" i="1" dirty="0" err="1"/>
              <a:t>déformation</a:t>
            </a:r>
            <a:r>
              <a:rPr lang="en-US" i="1" dirty="0"/>
              <a:t> </a:t>
            </a:r>
            <a:r>
              <a:rPr lang="en-US" i="1" dirty="0" err="1"/>
              <a:t>professionnelle</a:t>
            </a:r>
            <a:r>
              <a:rPr lang="en-US" dirty="0"/>
              <a:t>, or professional </a:t>
            </a:r>
            <a:r>
              <a:rPr lang="en-US" u="sng" dirty="0">
                <a:hlinkClick r:id="rId2" tooltip="What is Bias in UX/UI Design?"/>
              </a:rPr>
              <a:t>bias</a:t>
            </a:r>
            <a:r>
              <a:rPr lang="en-US" dirty="0"/>
              <a:t>, and participatory design is a solution. However, designers need to adhere to these principles to make truly participatory designs:</a:t>
            </a:r>
            <a:endParaRPr lang="en-US" sz="2400" dirty="0" smtClean="0"/>
          </a:p>
        </p:txBody>
      </p:sp>
    </p:spTree>
    <p:extLst>
      <p:ext uri="{BB962C8B-B14F-4D97-AF65-F5344CB8AC3E}">
        <p14:creationId xmlns:p14="http://schemas.microsoft.com/office/powerpoint/2010/main" val="32222905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b="1" dirty="0" smtClean="0"/>
              <a:t>…Key </a:t>
            </a:r>
            <a:r>
              <a:rPr lang="en-US" b="1" dirty="0"/>
              <a:t>Aspects of Participatory </a:t>
            </a:r>
            <a:r>
              <a:rPr lang="en-US" b="1" dirty="0" smtClean="0"/>
              <a:t>Design…</a:t>
            </a:r>
            <a:endParaRPr lang="en-US" b="1" dirty="0"/>
          </a:p>
        </p:txBody>
      </p:sp>
      <p:sp>
        <p:nvSpPr>
          <p:cNvPr id="7" name="Content Placeholder 2"/>
          <p:cNvSpPr>
            <a:spLocks noGrp="1"/>
          </p:cNvSpPr>
          <p:nvPr>
            <p:ph idx="1"/>
          </p:nvPr>
        </p:nvSpPr>
        <p:spPr>
          <a:xfrm>
            <a:off x="0" y="685800"/>
            <a:ext cx="9144000" cy="6172200"/>
          </a:xfrm>
        </p:spPr>
        <p:txBody>
          <a:bodyPr>
            <a:normAutofit fontScale="92500" lnSpcReduction="20000"/>
          </a:bodyPr>
          <a:lstStyle/>
          <a:p>
            <a:endParaRPr lang="en-US" sz="2400" dirty="0"/>
          </a:p>
          <a:p>
            <a:r>
              <a:rPr lang="en-US" b="1" dirty="0"/>
              <a:t>Inclusion:</a:t>
            </a:r>
            <a:r>
              <a:rPr lang="en-US" dirty="0"/>
              <a:t> Include a diverse range of participants who will be affected by or interact with the product, system or problem that needs to be solved. This includes end-users, designers, developers, domain experts, and other </a:t>
            </a:r>
            <a:r>
              <a:rPr lang="en-US" u="sng" dirty="0">
                <a:hlinkClick r:id="rId2" tooltip="What are Stakeholders?"/>
              </a:rPr>
              <a:t>stakeholders</a:t>
            </a:r>
            <a:r>
              <a:rPr lang="en-US" dirty="0"/>
              <a:t>.</a:t>
            </a:r>
          </a:p>
          <a:p>
            <a:r>
              <a:rPr lang="en-US" b="1" dirty="0"/>
              <a:t>Collaboration: </a:t>
            </a:r>
            <a:r>
              <a:rPr lang="en-US" dirty="0"/>
              <a:t>Involve collaborative activities where participants can contribute their knowledge, insights, and ideas. This collaboration can take various forms, such as </a:t>
            </a:r>
            <a:r>
              <a:rPr lang="en-US" u="sng" dirty="0">
                <a:hlinkClick r:id="rId3" tooltip="What are Workshops in UX/UI Design?"/>
              </a:rPr>
              <a:t>workshops</a:t>
            </a:r>
            <a:r>
              <a:rPr lang="en-US" dirty="0"/>
              <a:t>, interviews, </a:t>
            </a:r>
            <a:r>
              <a:rPr lang="en-US" u="sng" dirty="0">
                <a:hlinkClick r:id="rId4" tooltip="What is Brainstorming?"/>
              </a:rPr>
              <a:t>brainstorming</a:t>
            </a:r>
            <a:r>
              <a:rPr lang="en-US" dirty="0"/>
              <a:t> sessions, and co-design exercises.</a:t>
            </a:r>
          </a:p>
          <a:p>
            <a:r>
              <a:rPr lang="en-US" b="1" dirty="0"/>
              <a:t>Empowerment: </a:t>
            </a:r>
            <a:r>
              <a:rPr lang="en-US" dirty="0"/>
              <a:t>Empower users and stakeholders to actively influence design decisions. Their input and feedback are valued and incorporated into the design process, giving them as much ownership and control as designers.</a:t>
            </a:r>
          </a:p>
        </p:txBody>
      </p:sp>
    </p:spTree>
    <p:extLst>
      <p:ext uri="{BB962C8B-B14F-4D97-AF65-F5344CB8AC3E}">
        <p14:creationId xmlns:p14="http://schemas.microsoft.com/office/powerpoint/2010/main" val="20046844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b="1" dirty="0" smtClean="0"/>
              <a:t>…Key </a:t>
            </a:r>
            <a:r>
              <a:rPr lang="en-US" b="1" dirty="0"/>
              <a:t>Aspects of Participatory </a:t>
            </a:r>
            <a:r>
              <a:rPr lang="en-US" b="1" dirty="0" smtClean="0"/>
              <a:t>Design</a:t>
            </a:r>
            <a:endParaRPr lang="en-US" b="1" dirty="0"/>
          </a:p>
        </p:txBody>
      </p:sp>
      <p:sp>
        <p:nvSpPr>
          <p:cNvPr id="7" name="Content Placeholder 2"/>
          <p:cNvSpPr>
            <a:spLocks noGrp="1"/>
          </p:cNvSpPr>
          <p:nvPr>
            <p:ph idx="1"/>
          </p:nvPr>
        </p:nvSpPr>
        <p:spPr>
          <a:xfrm>
            <a:off x="0" y="685800"/>
            <a:ext cx="9144000" cy="6172200"/>
          </a:xfrm>
        </p:spPr>
        <p:txBody>
          <a:bodyPr>
            <a:normAutofit fontScale="85000" lnSpcReduction="10000"/>
          </a:bodyPr>
          <a:lstStyle/>
          <a:p>
            <a:endParaRPr lang="en-US" sz="2400" dirty="0"/>
          </a:p>
          <a:p>
            <a:r>
              <a:rPr lang="en-US" b="1" u="sng" dirty="0">
                <a:hlinkClick r:id="rId2" tooltip="What is Design Iteration?"/>
              </a:rPr>
              <a:t>Iteration</a:t>
            </a:r>
            <a:r>
              <a:rPr lang="en-US" b="1" dirty="0"/>
              <a:t>:</a:t>
            </a:r>
            <a:r>
              <a:rPr lang="en-US" dirty="0"/>
              <a:t> Iterate; the design process is iterative, with continuous feedback and refinement. Participants should help evaluate </a:t>
            </a:r>
            <a:r>
              <a:rPr lang="en-US" u="sng" dirty="0">
                <a:hlinkClick r:id="rId3" tooltip="What are Prototypes?"/>
              </a:rPr>
              <a:t>prototypes</a:t>
            </a:r>
            <a:r>
              <a:rPr lang="en-US" dirty="0"/>
              <a:t>, provide feedback, and suggest improvements. This </a:t>
            </a:r>
            <a:r>
              <a:rPr lang="en-US" u="sng" dirty="0">
                <a:hlinkClick r:id="rId4" tooltip="What is Iterative Development?"/>
              </a:rPr>
              <a:t>iterative approach</a:t>
            </a:r>
            <a:r>
              <a:rPr lang="en-US" dirty="0"/>
              <a:t> helps ensure that the final design meets </a:t>
            </a:r>
            <a:r>
              <a:rPr lang="en-US" u="sng" dirty="0">
                <a:hlinkClick r:id="rId5" tooltip="What are User Needs?"/>
              </a:rPr>
              <a:t>user needs</a:t>
            </a:r>
            <a:r>
              <a:rPr lang="en-US" dirty="0"/>
              <a:t> effectively.</a:t>
            </a:r>
          </a:p>
          <a:p>
            <a:r>
              <a:rPr lang="en-US" b="1" dirty="0"/>
              <a:t>Contextual understanding:</a:t>
            </a:r>
            <a:r>
              <a:rPr lang="en-US" dirty="0"/>
              <a:t> Listen to the participants to understand the context in which the final product or system will be used. Learn the cultural, social, and environmental factors to create solutions tailored to their specific context.</a:t>
            </a:r>
          </a:p>
          <a:p>
            <a:r>
              <a:rPr lang="en-US" b="1" dirty="0"/>
              <a:t>User advocacy:</a:t>
            </a:r>
            <a:r>
              <a:rPr lang="en-US" dirty="0"/>
              <a:t> Allow users to advocate for themselves throughout the design process. Address power imbalances and ensure design decisions prioritize users' interests and goals. The goal is to create an equal and safe space for collaboration and co-design.</a:t>
            </a:r>
          </a:p>
        </p:txBody>
      </p:sp>
    </p:spTree>
    <p:extLst>
      <p:ext uri="{BB962C8B-B14F-4D97-AF65-F5344CB8AC3E}">
        <p14:creationId xmlns:p14="http://schemas.microsoft.com/office/powerpoint/2010/main" val="7199635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b="1" dirty="0"/>
              <a:t>Participatory Design and UX </a:t>
            </a:r>
            <a:r>
              <a:rPr lang="en-US" b="1" dirty="0" smtClean="0"/>
              <a:t>Design…</a:t>
            </a:r>
            <a:endParaRPr lang="en-US" b="1" dirty="0"/>
          </a:p>
        </p:txBody>
      </p:sp>
      <p:sp>
        <p:nvSpPr>
          <p:cNvPr id="7" name="Content Placeholder 2"/>
          <p:cNvSpPr>
            <a:spLocks noGrp="1"/>
          </p:cNvSpPr>
          <p:nvPr>
            <p:ph idx="1"/>
          </p:nvPr>
        </p:nvSpPr>
        <p:spPr>
          <a:xfrm>
            <a:off x="0" y="685800"/>
            <a:ext cx="9144000" cy="6172200"/>
          </a:xfrm>
        </p:spPr>
        <p:txBody>
          <a:bodyPr>
            <a:normAutofit fontScale="92500" lnSpcReduction="20000"/>
          </a:bodyPr>
          <a:lstStyle/>
          <a:p>
            <a:endParaRPr lang="en-US" sz="2400" dirty="0"/>
          </a:p>
          <a:p>
            <a:r>
              <a:rPr lang="en-US" dirty="0"/>
              <a:t>Participatory design is a natural complement to </a:t>
            </a:r>
            <a:r>
              <a:rPr lang="en-US" u="sng" dirty="0">
                <a:hlinkClick r:id="rId2" tooltip="What is User Experience (UX) Design?"/>
              </a:rPr>
              <a:t>UX design</a:t>
            </a:r>
            <a:r>
              <a:rPr lang="en-US" dirty="0"/>
              <a:t> because it actively seeks user feedback and input throughout the design process. </a:t>
            </a:r>
            <a:endParaRPr lang="en-US" dirty="0" smtClean="0"/>
          </a:p>
          <a:p>
            <a:r>
              <a:rPr lang="en-US" dirty="0" smtClean="0"/>
              <a:t>UX </a:t>
            </a:r>
            <a:r>
              <a:rPr lang="en-US" dirty="0"/>
              <a:t>design is most often user-focused, or human-centered. </a:t>
            </a:r>
            <a:endParaRPr lang="en-US" dirty="0" smtClean="0"/>
          </a:p>
          <a:p>
            <a:r>
              <a:rPr lang="en-US" dirty="0" smtClean="0"/>
              <a:t>In </a:t>
            </a:r>
            <a:r>
              <a:rPr lang="en-US" dirty="0"/>
              <a:t>the early stages of development, designers will learn about the problem users have and how it affects them. </a:t>
            </a:r>
          </a:p>
          <a:p>
            <a:r>
              <a:rPr lang="en-US" u="sng" dirty="0">
                <a:hlinkClick r:id="rId3" tooltip="What are UX Designers?"/>
              </a:rPr>
              <a:t>UX designers</a:t>
            </a:r>
            <a:r>
              <a:rPr lang="en-US" dirty="0"/>
              <a:t> can use those insights into user needs, preferences, and behaviors, to inform design decisions and help to create products, services, or systems that are more user-friendly and effective. </a:t>
            </a:r>
            <a:endParaRPr lang="en-US" dirty="0" smtClean="0"/>
          </a:p>
          <a:p>
            <a:r>
              <a:rPr lang="en-US" dirty="0" smtClean="0"/>
              <a:t>However</a:t>
            </a:r>
            <a:r>
              <a:rPr lang="en-US" dirty="0"/>
              <a:t>, during development, designers will only directly involve users when a new prototype needs to be tested.</a:t>
            </a:r>
          </a:p>
        </p:txBody>
      </p:sp>
    </p:spTree>
    <p:extLst>
      <p:ext uri="{BB962C8B-B14F-4D97-AF65-F5344CB8AC3E}">
        <p14:creationId xmlns:p14="http://schemas.microsoft.com/office/powerpoint/2010/main" val="28574929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b="1" dirty="0" smtClean="0"/>
              <a:t>…Participatory </a:t>
            </a:r>
            <a:r>
              <a:rPr lang="en-US" b="1" dirty="0"/>
              <a:t>Design and UX Design</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dirty="0"/>
              <a:t>In contrast, participatory design involves users in the design process itself. The end-users will often be in the room for </a:t>
            </a:r>
            <a:r>
              <a:rPr lang="en-US" u="sng" dirty="0">
                <a:hlinkClick r:id="rId2" tooltip="What is Ideation?"/>
              </a:rPr>
              <a:t>ideation</a:t>
            </a:r>
            <a:r>
              <a:rPr lang="en-US" dirty="0"/>
              <a:t> sessions, and provide design feedback throughout the process. It democratizes who makes decisions for the people the solutions affect most.</a:t>
            </a:r>
          </a:p>
          <a:p>
            <a:r>
              <a:rPr lang="en-US" dirty="0"/>
              <a:t>The trade-off is that it requires a lot of time and effort from your participants, so this approach is usually most successful with groups that are already passionate and knowledgeable, or are professionals themselves in the field you work in.</a:t>
            </a:r>
          </a:p>
        </p:txBody>
      </p:sp>
    </p:spTree>
    <p:extLst>
      <p:ext uri="{BB962C8B-B14F-4D97-AF65-F5344CB8AC3E}">
        <p14:creationId xmlns:p14="http://schemas.microsoft.com/office/powerpoint/2010/main" val="31039935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Contextual Design: A Participatory Design Method </a:t>
            </a:r>
            <a:endParaRPr lang="en-US" sz="3600" b="1" dirty="0"/>
          </a:p>
        </p:txBody>
      </p:sp>
      <p:sp>
        <p:nvSpPr>
          <p:cNvPr id="7" name="Content Placeholder 2"/>
          <p:cNvSpPr>
            <a:spLocks noGrp="1"/>
          </p:cNvSpPr>
          <p:nvPr>
            <p:ph idx="1"/>
          </p:nvPr>
        </p:nvSpPr>
        <p:spPr>
          <a:xfrm>
            <a:off x="0" y="1371600"/>
            <a:ext cx="9144000" cy="5486400"/>
          </a:xfrm>
        </p:spPr>
        <p:txBody>
          <a:bodyPr>
            <a:normAutofit/>
          </a:bodyPr>
          <a:lstStyle/>
          <a:p>
            <a:r>
              <a:rPr lang="en-US" sz="2400" dirty="0"/>
              <a:t>The expectation of computer technology is to improve our productivity and enhance our quality of life. </a:t>
            </a:r>
            <a:endParaRPr lang="en-US" sz="2400" dirty="0" smtClean="0"/>
          </a:p>
          <a:p>
            <a:r>
              <a:rPr lang="en-US" sz="2400" dirty="0" smtClean="0"/>
              <a:t>The </a:t>
            </a:r>
            <a:r>
              <a:rPr lang="en-US" sz="2400" dirty="0"/>
              <a:t>study of HCI indicates the ability for computer technology to deliver on its promises rests squarely on how well applications fit our conceptual understanding of how things work. </a:t>
            </a:r>
            <a:endParaRPr lang="en-US" sz="2400" dirty="0" smtClean="0"/>
          </a:p>
          <a:p>
            <a:r>
              <a:rPr lang="en-US" sz="2400" dirty="0" smtClean="0"/>
              <a:t>In </a:t>
            </a:r>
            <a:r>
              <a:rPr lang="en-US" sz="2400" dirty="0"/>
              <a:t>the area of HCI research, a number of approaches have evolved to meet this challenge. These include User-Centered Design [</a:t>
            </a:r>
            <a:r>
              <a:rPr lang="en-US" sz="2400" dirty="0" err="1"/>
              <a:t>Landauer</a:t>
            </a:r>
            <a:r>
              <a:rPr lang="en-US" sz="2400" dirty="0"/>
              <a:t>], Human-Centered Systems [Flanagan, Huang, Jones, and </a:t>
            </a:r>
            <a:r>
              <a:rPr lang="en-US" sz="2400" dirty="0" err="1"/>
              <a:t>Kasif</a:t>
            </a:r>
            <a:r>
              <a:rPr lang="en-US" sz="2400" dirty="0"/>
              <a:t>], Participatory Design [Muller and Kuhn], and Contextual Design [Beyer and </a:t>
            </a:r>
            <a:r>
              <a:rPr lang="en-US" sz="2400" dirty="0" err="1"/>
              <a:t>Holtzblatt</a:t>
            </a:r>
            <a:r>
              <a:rPr lang="en-US" sz="2400" dirty="0"/>
              <a:t>]. </a:t>
            </a:r>
            <a:endParaRPr lang="en-US" dirty="0"/>
          </a:p>
        </p:txBody>
      </p:sp>
    </p:spTree>
    <p:extLst>
      <p:ext uri="{BB962C8B-B14F-4D97-AF65-F5344CB8AC3E}">
        <p14:creationId xmlns:p14="http://schemas.microsoft.com/office/powerpoint/2010/main" val="39317334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Contextual Design: A Participatory Design Method </a:t>
            </a:r>
            <a:endParaRPr lang="en-US" sz="3600" b="1" dirty="0"/>
          </a:p>
        </p:txBody>
      </p:sp>
      <p:sp>
        <p:nvSpPr>
          <p:cNvPr id="7" name="Content Placeholder 2"/>
          <p:cNvSpPr>
            <a:spLocks noGrp="1"/>
          </p:cNvSpPr>
          <p:nvPr>
            <p:ph idx="1"/>
          </p:nvPr>
        </p:nvSpPr>
        <p:spPr>
          <a:xfrm>
            <a:off x="0" y="1371600"/>
            <a:ext cx="9144000" cy="5486400"/>
          </a:xfrm>
        </p:spPr>
        <p:txBody>
          <a:bodyPr>
            <a:normAutofit/>
          </a:bodyPr>
          <a:lstStyle/>
          <a:p>
            <a:r>
              <a:rPr lang="en-US" sz="2400" dirty="0" smtClean="0"/>
              <a:t>The </a:t>
            </a:r>
            <a:r>
              <a:rPr lang="en-US" sz="2400" dirty="0"/>
              <a:t>different techniques find ways to interject the designer in the user's world and the user in the designer's world in order to develop a shared conceptual model of the tasks and the context in which they are being done [Muller and Kuhn]. </a:t>
            </a:r>
            <a:endParaRPr lang="en-US" sz="2400" dirty="0" smtClean="0"/>
          </a:p>
          <a:p>
            <a:r>
              <a:rPr lang="en-US" sz="2400" dirty="0" smtClean="0"/>
              <a:t>Early </a:t>
            </a:r>
            <a:r>
              <a:rPr lang="en-US" sz="2400" dirty="0"/>
              <a:t>in the design process, the designer engages in analysis activities that provide an insight into the user's mental model of the tasks for the system being developed [Liddle]. </a:t>
            </a:r>
            <a:endParaRPr lang="en-US" sz="2400" dirty="0" smtClean="0"/>
          </a:p>
          <a:p>
            <a:r>
              <a:rPr lang="en-US" sz="2400" dirty="0" smtClean="0"/>
              <a:t>A </a:t>
            </a:r>
            <a:r>
              <a:rPr lang="en-US" sz="2400" dirty="0"/>
              <a:t>mental model is the user's cognitive representation of the target system, while a conceptual model is a reasonably accurate and consistent representation of the target system. If the designer can devise the conceptual model in ways that reflect a user's mental model, then the application designed from the conceptual model will be more easily understood and fit more naturally into the user's activities [Norman].</a:t>
            </a:r>
            <a:endParaRPr lang="en-US" dirty="0"/>
          </a:p>
        </p:txBody>
      </p:sp>
    </p:spTree>
    <p:extLst>
      <p:ext uri="{BB962C8B-B14F-4D97-AF65-F5344CB8AC3E}">
        <p14:creationId xmlns:p14="http://schemas.microsoft.com/office/powerpoint/2010/main" val="20037387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Contextual </a:t>
            </a:r>
            <a:r>
              <a:rPr lang="en-US" sz="3600" dirty="0" smtClean="0"/>
              <a:t>Design</a:t>
            </a:r>
            <a:endParaRPr lang="en-US" sz="3600" b="1" dirty="0"/>
          </a:p>
        </p:txBody>
      </p:sp>
      <p:sp>
        <p:nvSpPr>
          <p:cNvPr id="7" name="Content Placeholder 2"/>
          <p:cNvSpPr>
            <a:spLocks noGrp="1"/>
          </p:cNvSpPr>
          <p:nvPr>
            <p:ph idx="1"/>
          </p:nvPr>
        </p:nvSpPr>
        <p:spPr>
          <a:xfrm>
            <a:off x="0" y="1371600"/>
            <a:ext cx="9144000" cy="5486400"/>
          </a:xfrm>
        </p:spPr>
        <p:txBody>
          <a:bodyPr>
            <a:normAutofit/>
          </a:bodyPr>
          <a:lstStyle/>
          <a:p>
            <a:r>
              <a:rPr lang="en-US" sz="2400" dirty="0"/>
              <a:t>Contextual Design Contextual Design (CD) is a customer-centered or participatory design method developed by Hugh Beyer and Karen </a:t>
            </a:r>
            <a:r>
              <a:rPr lang="en-US" sz="2400" dirty="0" err="1"/>
              <a:t>Holtzblatt</a:t>
            </a:r>
            <a:r>
              <a:rPr lang="en-US" sz="2400" dirty="0"/>
              <a:t>. </a:t>
            </a:r>
            <a:endParaRPr lang="en-US" sz="2400" dirty="0" smtClean="0"/>
          </a:p>
          <a:p>
            <a:r>
              <a:rPr lang="en-US" sz="2400" dirty="0" smtClean="0"/>
              <a:t>The </a:t>
            </a:r>
            <a:r>
              <a:rPr lang="en-US" sz="2400" dirty="0"/>
              <a:t>CD process stresses the use of customer data to drive the design process. Steps in the process attempt to engage the user as a partner in the design process. </a:t>
            </a:r>
            <a:endParaRPr lang="en-US" sz="2400" dirty="0" smtClean="0"/>
          </a:p>
          <a:p>
            <a:r>
              <a:rPr lang="en-US" sz="2400" dirty="0" smtClean="0"/>
              <a:t>This </a:t>
            </a:r>
            <a:r>
              <a:rPr lang="en-US" sz="2400" dirty="0"/>
              <a:t>is done in the beginning with collection of data through ethnographic techniques of observation and interviewing. Later the user is invited to be a co-designer by engaging them in a dialog over an iterative refinement process using paper prototypes.</a:t>
            </a:r>
            <a:endParaRPr lang="en-US" dirty="0"/>
          </a:p>
        </p:txBody>
      </p:sp>
    </p:spTree>
    <p:extLst>
      <p:ext uri="{BB962C8B-B14F-4D97-AF65-F5344CB8AC3E}">
        <p14:creationId xmlns:p14="http://schemas.microsoft.com/office/powerpoint/2010/main" val="6704961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Contextual </a:t>
            </a:r>
            <a:r>
              <a:rPr lang="en-US" sz="3600" dirty="0" smtClean="0"/>
              <a:t>Design</a:t>
            </a:r>
            <a:endParaRPr lang="en-US" sz="3600" b="1" dirty="0"/>
          </a:p>
        </p:txBody>
      </p:sp>
      <p:sp>
        <p:nvSpPr>
          <p:cNvPr id="7" name="Content Placeholder 2"/>
          <p:cNvSpPr>
            <a:spLocks noGrp="1"/>
          </p:cNvSpPr>
          <p:nvPr>
            <p:ph idx="1"/>
          </p:nvPr>
        </p:nvSpPr>
        <p:spPr>
          <a:xfrm>
            <a:off x="0" y="1371600"/>
            <a:ext cx="9144000" cy="5486400"/>
          </a:xfrm>
        </p:spPr>
        <p:txBody>
          <a:bodyPr>
            <a:normAutofit/>
          </a:bodyPr>
          <a:lstStyle/>
          <a:p>
            <a:r>
              <a:rPr lang="en-US" sz="2400" dirty="0"/>
              <a:t>Contextual Design Contextual Design (CD) is a customer-centered or participatory design method developed by Hugh Beyer and Karen </a:t>
            </a:r>
            <a:r>
              <a:rPr lang="en-US" sz="2400" dirty="0" err="1"/>
              <a:t>Holtzblatt</a:t>
            </a:r>
            <a:r>
              <a:rPr lang="en-US" sz="2400" dirty="0"/>
              <a:t>. </a:t>
            </a:r>
            <a:endParaRPr lang="en-US" sz="2400" dirty="0" smtClean="0"/>
          </a:p>
          <a:p>
            <a:r>
              <a:rPr lang="en-US" sz="2400" dirty="0" smtClean="0"/>
              <a:t>The </a:t>
            </a:r>
            <a:r>
              <a:rPr lang="en-US" sz="2400" dirty="0"/>
              <a:t>CD process stresses the use of customer data to drive the design process. Steps in the process attempt to engage the user as a partner in the design process. </a:t>
            </a:r>
            <a:endParaRPr lang="en-US" sz="2400" dirty="0" smtClean="0"/>
          </a:p>
          <a:p>
            <a:r>
              <a:rPr lang="en-US" sz="2400" dirty="0" smtClean="0"/>
              <a:t>This </a:t>
            </a:r>
            <a:r>
              <a:rPr lang="en-US" sz="2400" dirty="0"/>
              <a:t>is done in the beginning with collection of data through ethnographic techniques of observation and interviewing. Later the user is invited to be a co-designer by engaging them in a dialog over an iterative refinement process using paper prototypes.</a:t>
            </a:r>
            <a:endParaRPr lang="en-US" dirty="0"/>
          </a:p>
        </p:txBody>
      </p:sp>
    </p:spTree>
    <p:extLst>
      <p:ext uri="{BB962C8B-B14F-4D97-AF65-F5344CB8AC3E}">
        <p14:creationId xmlns:p14="http://schemas.microsoft.com/office/powerpoint/2010/main" val="14783074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Steps in the CD </a:t>
            </a:r>
            <a:r>
              <a:rPr lang="en-US" sz="3600" dirty="0" smtClean="0"/>
              <a:t>Process – Step 1 </a:t>
            </a:r>
            <a:r>
              <a:rPr lang="en-US" sz="3600" dirty="0"/>
              <a:t> </a:t>
            </a:r>
            <a:r>
              <a:rPr lang="en-US" sz="3600" b="1" dirty="0"/>
              <a:t>Contextual </a:t>
            </a:r>
            <a:r>
              <a:rPr lang="en-US" sz="3600" b="1" dirty="0" smtClean="0"/>
              <a:t>Inquiry</a:t>
            </a:r>
            <a:endParaRPr lang="en-US" sz="3600" b="1" dirty="0"/>
          </a:p>
        </p:txBody>
      </p:sp>
      <p:sp>
        <p:nvSpPr>
          <p:cNvPr id="7" name="Content Placeholder 2"/>
          <p:cNvSpPr>
            <a:spLocks noGrp="1"/>
          </p:cNvSpPr>
          <p:nvPr>
            <p:ph idx="1"/>
          </p:nvPr>
        </p:nvSpPr>
        <p:spPr>
          <a:xfrm>
            <a:off x="0" y="1371600"/>
            <a:ext cx="9144000" cy="5486400"/>
          </a:xfrm>
        </p:spPr>
        <p:txBody>
          <a:bodyPr>
            <a:normAutofit/>
          </a:bodyPr>
          <a:lstStyle/>
          <a:p>
            <a:r>
              <a:rPr lang="en-US" sz="2400" dirty="0" smtClean="0"/>
              <a:t>Raw </a:t>
            </a:r>
            <a:r>
              <a:rPr lang="en-US" sz="2400" dirty="0"/>
              <a:t>customer data is collected using ethnographic techniques of observation and interviewing. </a:t>
            </a:r>
            <a:endParaRPr lang="en-US" sz="2400" dirty="0" smtClean="0"/>
          </a:p>
          <a:p>
            <a:r>
              <a:rPr lang="en-US" sz="2400" dirty="0" smtClean="0"/>
              <a:t>Through </a:t>
            </a:r>
            <a:r>
              <a:rPr lang="en-US" sz="2400" dirty="0"/>
              <a:t>a series of in-class and out-of-class exercises students are taught techniques for gathering and organizing data into field notes. </a:t>
            </a:r>
            <a:endParaRPr lang="en-US" sz="2400" dirty="0" smtClean="0"/>
          </a:p>
          <a:p>
            <a:r>
              <a:rPr lang="en-US" sz="2400" dirty="0" smtClean="0"/>
              <a:t>A </a:t>
            </a:r>
            <a:r>
              <a:rPr lang="en-US" sz="2400" dirty="0"/>
              <a:t>partner relationship is established using a model of master/apprentice between the user and the designer. This model sets the stage for the user to “teach” the designer what they know and how they go about doing their tasks.</a:t>
            </a:r>
            <a:endParaRPr lang="en-US" dirty="0"/>
          </a:p>
        </p:txBody>
      </p:sp>
    </p:spTree>
    <p:extLst>
      <p:ext uri="{BB962C8B-B14F-4D97-AF65-F5344CB8AC3E}">
        <p14:creationId xmlns:p14="http://schemas.microsoft.com/office/powerpoint/2010/main" val="13314437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Steps in the CD </a:t>
            </a:r>
            <a:r>
              <a:rPr lang="en-US" sz="3600" dirty="0" smtClean="0"/>
              <a:t>Process – Step 2 </a:t>
            </a:r>
            <a:r>
              <a:rPr lang="en-US" sz="3600" b="1" dirty="0"/>
              <a:t>Work Modeling </a:t>
            </a:r>
            <a:br>
              <a:rPr lang="en-US" sz="3600" b="1" dirty="0"/>
            </a:br>
            <a:endParaRPr lang="en-US" sz="3600" b="1" dirty="0"/>
          </a:p>
        </p:txBody>
      </p:sp>
      <p:sp>
        <p:nvSpPr>
          <p:cNvPr id="7" name="Content Placeholder 2"/>
          <p:cNvSpPr>
            <a:spLocks noGrp="1"/>
          </p:cNvSpPr>
          <p:nvPr>
            <p:ph idx="1"/>
          </p:nvPr>
        </p:nvSpPr>
        <p:spPr>
          <a:xfrm>
            <a:off x="0" y="914400"/>
            <a:ext cx="9144000" cy="5943600"/>
          </a:xfrm>
        </p:spPr>
        <p:txBody>
          <a:bodyPr>
            <a:normAutofit fontScale="92500"/>
          </a:bodyPr>
          <a:lstStyle/>
          <a:p>
            <a:r>
              <a:rPr lang="en-US" sz="2400" dirty="0" smtClean="0"/>
              <a:t>Work </a:t>
            </a:r>
            <a:r>
              <a:rPr lang="en-US" sz="2400" dirty="0"/>
              <a:t>models provide a language to describe the work being done and a visual representation of the data collected. </a:t>
            </a:r>
            <a:endParaRPr lang="en-US" sz="2400" dirty="0" smtClean="0"/>
          </a:p>
          <a:p>
            <a:r>
              <a:rPr lang="en-US" sz="2400" dirty="0" smtClean="0"/>
              <a:t>The </a:t>
            </a:r>
            <a:r>
              <a:rPr lang="en-US" sz="2400" dirty="0"/>
              <a:t>models are created in a team Interpretation session. </a:t>
            </a:r>
            <a:endParaRPr lang="en-US" sz="2400" dirty="0" smtClean="0"/>
          </a:p>
          <a:p>
            <a:r>
              <a:rPr lang="en-US" sz="2400" dirty="0" smtClean="0"/>
              <a:t>This </a:t>
            </a:r>
            <a:r>
              <a:rPr lang="en-US" sz="2400" dirty="0"/>
              <a:t>allows team members to share their views and drive toward a shared understanding of the data. </a:t>
            </a:r>
            <a:endParaRPr lang="en-US" sz="2400" dirty="0" smtClean="0"/>
          </a:p>
          <a:p>
            <a:r>
              <a:rPr lang="en-US" sz="2400" dirty="0" smtClean="0"/>
              <a:t>Students </a:t>
            </a:r>
            <a:r>
              <a:rPr lang="en-US" sz="2400" dirty="0"/>
              <a:t>are asked to focus on three of the five possible models</a:t>
            </a:r>
            <a:r>
              <a:rPr lang="en-US" sz="2400" dirty="0" smtClean="0"/>
              <a:t>:</a:t>
            </a:r>
          </a:p>
          <a:p>
            <a:pPr lvl="1"/>
            <a:r>
              <a:rPr lang="en-US" dirty="0" smtClean="0"/>
              <a:t> </a:t>
            </a:r>
            <a:r>
              <a:rPr lang="en-US" dirty="0"/>
              <a:t>1) </a:t>
            </a:r>
            <a:r>
              <a:rPr lang="en-US" b="1" dirty="0"/>
              <a:t>Flow model</a:t>
            </a:r>
            <a:r>
              <a:rPr lang="en-US" dirty="0"/>
              <a:t> – indicates who is performing what tasks and how they coordinate their activities. Reveals roles and lines of communication </a:t>
            </a:r>
            <a:endParaRPr lang="en-US" dirty="0" smtClean="0"/>
          </a:p>
          <a:p>
            <a:pPr lvl="1"/>
            <a:r>
              <a:rPr lang="en-US" dirty="0" smtClean="0"/>
              <a:t>2</a:t>
            </a:r>
            <a:r>
              <a:rPr lang="en-US" b="1" dirty="0"/>
              <a:t>) Sequence model </a:t>
            </a:r>
            <a:r>
              <a:rPr lang="en-US" dirty="0"/>
              <a:t>– indicates the steps taken to perform a task. Reveals strategies for accomplishing tasks. </a:t>
            </a:r>
            <a:endParaRPr lang="en-US" dirty="0" smtClean="0"/>
          </a:p>
          <a:p>
            <a:pPr lvl="1"/>
            <a:r>
              <a:rPr lang="en-US" dirty="0" smtClean="0"/>
              <a:t>3</a:t>
            </a:r>
            <a:r>
              <a:rPr lang="en-US" dirty="0"/>
              <a:t>) </a:t>
            </a:r>
            <a:r>
              <a:rPr lang="en-US" b="1" dirty="0"/>
              <a:t>Artifact model </a:t>
            </a:r>
            <a:r>
              <a:rPr lang="en-US" dirty="0"/>
              <a:t>– model of items used in the process. Reveals ways of organizing and communicating information.</a:t>
            </a:r>
            <a:endParaRPr lang="en-US" sz="3600" dirty="0"/>
          </a:p>
        </p:txBody>
      </p:sp>
    </p:spTree>
    <p:extLst>
      <p:ext uri="{BB962C8B-B14F-4D97-AF65-F5344CB8AC3E}">
        <p14:creationId xmlns:p14="http://schemas.microsoft.com/office/powerpoint/2010/main" val="33071138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Steps in the CD </a:t>
            </a:r>
            <a:r>
              <a:rPr lang="en-US" sz="3600" dirty="0" smtClean="0"/>
              <a:t>Process – </a:t>
            </a:r>
            <a:r>
              <a:rPr lang="en-US" sz="3600" dirty="0"/>
              <a:t>Step 3 </a:t>
            </a:r>
            <a:r>
              <a:rPr lang="en-US" sz="3600" b="1" dirty="0"/>
              <a:t>Consolidation</a:t>
            </a:r>
            <a:r>
              <a:rPr lang="en-US" sz="3600" b="1" dirty="0" smtClean="0"/>
              <a:t> </a:t>
            </a:r>
            <a:r>
              <a:rPr lang="en-US" sz="3600" b="1" dirty="0"/>
              <a:t/>
            </a:r>
            <a:br>
              <a:rPr lang="en-US" sz="3600" b="1" dirty="0"/>
            </a:br>
            <a:endParaRPr lang="en-US" sz="3600" b="1" dirty="0"/>
          </a:p>
        </p:txBody>
      </p:sp>
      <p:sp>
        <p:nvSpPr>
          <p:cNvPr id="7" name="Content Placeholder 2"/>
          <p:cNvSpPr>
            <a:spLocks noGrp="1"/>
          </p:cNvSpPr>
          <p:nvPr>
            <p:ph idx="1"/>
          </p:nvPr>
        </p:nvSpPr>
        <p:spPr>
          <a:xfrm>
            <a:off x="0" y="914400"/>
            <a:ext cx="9144000" cy="5943600"/>
          </a:xfrm>
        </p:spPr>
        <p:txBody>
          <a:bodyPr>
            <a:normAutofit fontScale="92500" lnSpcReduction="10000"/>
          </a:bodyPr>
          <a:lstStyle/>
          <a:p>
            <a:r>
              <a:rPr lang="en-US" sz="2400" dirty="0"/>
              <a:t>Using a process of induction, the design team looks across each of the different types of work models of the individual users to create a single work model of each type. </a:t>
            </a:r>
            <a:endParaRPr lang="en-US" sz="2400" dirty="0" smtClean="0"/>
          </a:p>
          <a:p>
            <a:r>
              <a:rPr lang="en-US" sz="2400" dirty="0" smtClean="0"/>
              <a:t>Conclusions </a:t>
            </a:r>
            <a:r>
              <a:rPr lang="en-US" sz="2400" dirty="0"/>
              <a:t>are drawn about the general population of users from the individual users. </a:t>
            </a:r>
            <a:endParaRPr lang="en-US" sz="2400" dirty="0" smtClean="0"/>
          </a:p>
          <a:p>
            <a:r>
              <a:rPr lang="en-US" sz="2400" dirty="0" smtClean="0"/>
              <a:t>This </a:t>
            </a:r>
            <a:r>
              <a:rPr lang="en-US" sz="2400" dirty="0"/>
              <a:t>gives the team a picture of the overall user population they are designing for, providing a picture of common and divergent patterns that will have implications to the design. </a:t>
            </a:r>
            <a:endParaRPr lang="en-US" sz="2400" dirty="0" smtClean="0"/>
          </a:p>
          <a:p>
            <a:r>
              <a:rPr lang="en-US" sz="2400" dirty="0" smtClean="0"/>
              <a:t>In </a:t>
            </a:r>
            <a:r>
              <a:rPr lang="en-US" sz="2400" dirty="0"/>
              <a:t>addition, an Affinity Diagram is created to help organize the individual user’s interests, concerns, and issues. </a:t>
            </a:r>
            <a:endParaRPr lang="en-US" sz="2400" dirty="0" smtClean="0"/>
          </a:p>
          <a:p>
            <a:r>
              <a:rPr lang="en-US" sz="2400" dirty="0" smtClean="0"/>
              <a:t>An </a:t>
            </a:r>
            <a:r>
              <a:rPr lang="en-US" sz="2400" dirty="0"/>
              <a:t>Affinity Diagram is built from the bottom-up using notes from each of the individual user and grouping them together when they have some similarity or affinity</a:t>
            </a:r>
            <a:r>
              <a:rPr lang="en-US" sz="2400" dirty="0" smtClean="0"/>
              <a:t>.</a:t>
            </a:r>
          </a:p>
          <a:p>
            <a:r>
              <a:rPr lang="en-US" sz="2400" dirty="0" smtClean="0"/>
              <a:t> </a:t>
            </a:r>
            <a:r>
              <a:rPr lang="en-US" sz="2400" dirty="0"/>
              <a:t>When a group of notes are placed together, an abstract label created to indicate their similarity. Additional levels of abstraction can also be added to help further organize the data and reveal more structure across of the user data.</a:t>
            </a:r>
            <a:endParaRPr lang="en-US" sz="3600" dirty="0"/>
          </a:p>
        </p:txBody>
      </p:sp>
    </p:spTree>
    <p:extLst>
      <p:ext uri="{BB962C8B-B14F-4D97-AF65-F5344CB8AC3E}">
        <p14:creationId xmlns:p14="http://schemas.microsoft.com/office/powerpoint/2010/main" val="20915303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Steps in the CD </a:t>
            </a:r>
            <a:r>
              <a:rPr lang="en-US" sz="3600" dirty="0" smtClean="0"/>
              <a:t>Process – </a:t>
            </a:r>
            <a:r>
              <a:rPr lang="en-US" sz="3600" dirty="0"/>
              <a:t>Step </a:t>
            </a:r>
            <a:r>
              <a:rPr lang="en-US" sz="3600" dirty="0" smtClean="0"/>
              <a:t>4 </a:t>
            </a:r>
            <a:r>
              <a:rPr lang="en-US" sz="3600" b="1" dirty="0"/>
              <a:t>Visioning</a:t>
            </a:r>
            <a:r>
              <a:rPr lang="en-US" sz="3600" b="1" dirty="0" smtClean="0"/>
              <a:t> </a:t>
            </a:r>
            <a:r>
              <a:rPr lang="en-US" sz="3600" b="1" dirty="0"/>
              <a:t/>
            </a:r>
            <a:br>
              <a:rPr lang="en-US" sz="3600" b="1" dirty="0"/>
            </a:br>
            <a:endParaRPr lang="en-US" sz="3600" b="1" dirty="0"/>
          </a:p>
        </p:txBody>
      </p:sp>
      <p:sp>
        <p:nvSpPr>
          <p:cNvPr id="7" name="Content Placeholder 2"/>
          <p:cNvSpPr>
            <a:spLocks noGrp="1"/>
          </p:cNvSpPr>
          <p:nvPr>
            <p:ph idx="1"/>
          </p:nvPr>
        </p:nvSpPr>
        <p:spPr>
          <a:xfrm>
            <a:off x="0" y="914400"/>
            <a:ext cx="9144000" cy="5943600"/>
          </a:xfrm>
        </p:spPr>
        <p:txBody>
          <a:bodyPr>
            <a:normAutofit/>
          </a:bodyPr>
          <a:lstStyle/>
          <a:p>
            <a:r>
              <a:rPr lang="en-US" sz="2400" dirty="0" smtClean="0"/>
              <a:t>Using </a:t>
            </a:r>
            <a:r>
              <a:rPr lang="en-US" sz="2400" dirty="0"/>
              <a:t>the data to guide, suggest and constrain, the design team brainstorms multiple ideas for possible solutions. </a:t>
            </a:r>
            <a:endParaRPr lang="en-US" sz="2400" dirty="0" smtClean="0"/>
          </a:p>
          <a:p>
            <a:r>
              <a:rPr lang="en-US" sz="2400" dirty="0" smtClean="0"/>
              <a:t>Because </a:t>
            </a:r>
            <a:r>
              <a:rPr lang="en-US" sz="2400" dirty="0"/>
              <a:t>the design ideas are driven by the data this can be termed “grounded brainstorming”. </a:t>
            </a:r>
            <a:endParaRPr lang="en-US" sz="2400" dirty="0" smtClean="0"/>
          </a:p>
          <a:p>
            <a:r>
              <a:rPr lang="en-US" sz="2400" dirty="0" smtClean="0"/>
              <a:t>After </a:t>
            </a:r>
            <a:r>
              <a:rPr lang="en-US" sz="2400" dirty="0"/>
              <a:t>evaluating the positive and negative points a consensus idea is derived from the different brainstorms. Storyboards are used at this point to work out the details of the design.</a:t>
            </a:r>
            <a:endParaRPr lang="en-US" sz="3600" dirty="0"/>
          </a:p>
        </p:txBody>
      </p:sp>
    </p:spTree>
    <p:extLst>
      <p:ext uri="{BB962C8B-B14F-4D97-AF65-F5344CB8AC3E}">
        <p14:creationId xmlns:p14="http://schemas.microsoft.com/office/powerpoint/2010/main" val="23905577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Steps in the CD </a:t>
            </a:r>
            <a:r>
              <a:rPr lang="en-US" sz="3600" dirty="0" smtClean="0"/>
              <a:t>Process – </a:t>
            </a:r>
            <a:r>
              <a:rPr lang="en-US" sz="3600" dirty="0"/>
              <a:t>Step 5 </a:t>
            </a:r>
            <a:r>
              <a:rPr lang="en-US" sz="3600" b="1" dirty="0"/>
              <a:t>User Environment Design</a:t>
            </a:r>
            <a:r>
              <a:rPr lang="en-US" sz="3600" b="1" dirty="0" smtClean="0"/>
              <a:t> </a:t>
            </a:r>
            <a:endParaRPr lang="en-US" sz="3600" b="1" dirty="0"/>
          </a:p>
        </p:txBody>
      </p:sp>
      <p:sp>
        <p:nvSpPr>
          <p:cNvPr id="7" name="Content Placeholder 2"/>
          <p:cNvSpPr>
            <a:spLocks noGrp="1"/>
          </p:cNvSpPr>
          <p:nvPr>
            <p:ph idx="1"/>
          </p:nvPr>
        </p:nvSpPr>
        <p:spPr>
          <a:xfrm>
            <a:off x="0" y="914400"/>
            <a:ext cx="9144000" cy="5943600"/>
          </a:xfrm>
        </p:spPr>
        <p:txBody>
          <a:bodyPr>
            <a:normAutofit/>
          </a:bodyPr>
          <a:lstStyle/>
          <a:p>
            <a:r>
              <a:rPr lang="en-US" sz="2400" dirty="0"/>
              <a:t>The User Environment Design (UED) is a “blue print” for the overall organization of the application. </a:t>
            </a:r>
            <a:endParaRPr lang="en-US" sz="2400" dirty="0" smtClean="0"/>
          </a:p>
          <a:p>
            <a:r>
              <a:rPr lang="en-US" sz="2400" dirty="0" smtClean="0"/>
              <a:t>It </a:t>
            </a:r>
            <a:r>
              <a:rPr lang="en-US" sz="2400" dirty="0"/>
              <a:t>organizes the functionality of the application into places where specific tasks are to be preformed and corridors that link places together that indicate connections between coordinated activities or supporting activities to accomplish a task. </a:t>
            </a:r>
            <a:endParaRPr lang="en-US" sz="2400" dirty="0" smtClean="0"/>
          </a:p>
          <a:p>
            <a:r>
              <a:rPr lang="en-US" sz="2400" dirty="0" smtClean="0"/>
              <a:t>The </a:t>
            </a:r>
            <a:r>
              <a:rPr lang="en-US" sz="2400" dirty="0"/>
              <a:t>UED provides a clear representation of the organization of the design. </a:t>
            </a:r>
            <a:endParaRPr lang="en-US" sz="2400" dirty="0" smtClean="0"/>
          </a:p>
          <a:p>
            <a:r>
              <a:rPr lang="en-US" sz="2400" dirty="0" smtClean="0"/>
              <a:t>It </a:t>
            </a:r>
            <a:r>
              <a:rPr lang="en-US" sz="2400" dirty="0"/>
              <a:t>also serves as a specification for the User Interface Design. Typically each place in the UED is a single window, the tasks are functions that the window should support, and the corridors are some type of link, such as a button or menu, to another place. </a:t>
            </a:r>
            <a:endParaRPr lang="en-US" sz="2400" dirty="0" smtClean="0"/>
          </a:p>
          <a:p>
            <a:r>
              <a:rPr lang="en-US" sz="2400" dirty="0" smtClean="0"/>
              <a:t>The </a:t>
            </a:r>
            <a:r>
              <a:rPr lang="en-US" sz="2400" dirty="0"/>
              <a:t>UED is created from the storyboards.</a:t>
            </a:r>
            <a:endParaRPr lang="en-US" sz="3600" dirty="0"/>
          </a:p>
        </p:txBody>
      </p:sp>
    </p:spTree>
    <p:extLst>
      <p:ext uri="{BB962C8B-B14F-4D97-AF65-F5344CB8AC3E}">
        <p14:creationId xmlns:p14="http://schemas.microsoft.com/office/powerpoint/2010/main" val="2946225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1143000"/>
          </a:xfrm>
        </p:spPr>
        <p:txBody>
          <a:bodyPr>
            <a:noAutofit/>
          </a:bodyPr>
          <a:lstStyle/>
          <a:p>
            <a:r>
              <a:rPr lang="en-US" sz="3600" dirty="0"/>
              <a:t>Steps in the CD </a:t>
            </a:r>
            <a:r>
              <a:rPr lang="en-US" sz="3600" dirty="0" smtClean="0"/>
              <a:t>Process – </a:t>
            </a:r>
            <a:r>
              <a:rPr lang="en-US" sz="3600" dirty="0"/>
              <a:t>Step 6 </a:t>
            </a:r>
            <a:r>
              <a:rPr lang="en-US" sz="3600" b="1" dirty="0"/>
              <a:t>Paper Prototyping</a:t>
            </a:r>
            <a:r>
              <a:rPr lang="en-US" sz="3600" b="1" dirty="0" smtClean="0"/>
              <a:t> </a:t>
            </a:r>
            <a:endParaRPr lang="en-US" sz="3600" b="1" dirty="0"/>
          </a:p>
        </p:txBody>
      </p:sp>
      <p:sp>
        <p:nvSpPr>
          <p:cNvPr id="7" name="Content Placeholder 2"/>
          <p:cNvSpPr>
            <a:spLocks noGrp="1"/>
          </p:cNvSpPr>
          <p:nvPr>
            <p:ph idx="1"/>
          </p:nvPr>
        </p:nvSpPr>
        <p:spPr>
          <a:xfrm>
            <a:off x="0" y="914400"/>
            <a:ext cx="9144000" cy="5943600"/>
          </a:xfrm>
        </p:spPr>
        <p:txBody>
          <a:bodyPr>
            <a:normAutofit/>
          </a:bodyPr>
          <a:lstStyle/>
          <a:p>
            <a:r>
              <a:rPr lang="en-US" sz="2400" dirty="0"/>
              <a:t>From the UED an interface for the application is designed. The interface is created first using pencil and paper. </a:t>
            </a:r>
            <a:endParaRPr lang="en-US" sz="2400" dirty="0" smtClean="0"/>
          </a:p>
          <a:p>
            <a:r>
              <a:rPr lang="en-US" sz="2400" dirty="0" smtClean="0"/>
              <a:t>With </a:t>
            </a:r>
            <a:r>
              <a:rPr lang="en-US" sz="2400" dirty="0"/>
              <a:t>the paper prototype the user is asked to try out specific set of tasks. This type of lo-fidelity testing allows the designer to get quick feedback, and to iteratively refine the design</a:t>
            </a:r>
            <a:r>
              <a:rPr lang="en-US" sz="2400" dirty="0" smtClean="0"/>
              <a:t>.</a:t>
            </a:r>
          </a:p>
          <a:p>
            <a:r>
              <a:rPr lang="en-US" sz="2400" dirty="0" smtClean="0"/>
              <a:t> </a:t>
            </a:r>
            <a:r>
              <a:rPr lang="en-US" sz="2400" dirty="0"/>
              <a:t>It also serves to invite the user in the design process. Because it is accepted as a “rough draft” rather than a nearly complete product, users feel comfortable suggesting possible changes. </a:t>
            </a:r>
            <a:endParaRPr lang="en-US" sz="2400" dirty="0" smtClean="0"/>
          </a:p>
          <a:p>
            <a:r>
              <a:rPr lang="en-US" sz="2400" dirty="0" smtClean="0"/>
              <a:t>Changes </a:t>
            </a:r>
            <a:r>
              <a:rPr lang="en-US" sz="2400" dirty="0"/>
              <a:t>can be made very quickly and tested with other potential users</a:t>
            </a:r>
            <a:endParaRPr lang="en-US" sz="3600" dirty="0"/>
          </a:p>
        </p:txBody>
      </p:sp>
    </p:spTree>
    <p:extLst>
      <p:ext uri="{BB962C8B-B14F-4D97-AF65-F5344CB8AC3E}">
        <p14:creationId xmlns:p14="http://schemas.microsoft.com/office/powerpoint/2010/main" val="13967419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a:bodyPr>
          <a:lstStyle/>
          <a:p>
            <a:r>
              <a:rPr lang="en-US" sz="4000" dirty="0" smtClean="0"/>
              <a:t>References</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pPr marL="0" indent="0">
              <a:buNone/>
            </a:pPr>
            <a:r>
              <a:rPr lang="en-US" sz="2400" b="1" dirty="0" smtClean="0"/>
              <a:t>Lecture</a:t>
            </a:r>
            <a:endParaRPr lang="en-US" sz="2400" b="1" dirty="0" smtClean="0">
              <a:hlinkClick r:id="rId2"/>
            </a:endParaRPr>
          </a:p>
          <a:p>
            <a:r>
              <a:rPr lang="en-US" sz="2400" dirty="0" smtClean="0">
                <a:hlinkClick r:id="rId2"/>
              </a:rPr>
              <a:t>What </a:t>
            </a:r>
            <a:r>
              <a:rPr lang="en-US" sz="2400" dirty="0">
                <a:hlinkClick r:id="rId2"/>
              </a:rPr>
              <a:t>is participatory design? — updated 2024 | </a:t>
            </a:r>
            <a:r>
              <a:rPr lang="en-US" sz="2400" dirty="0" err="1" smtClean="0">
                <a:hlinkClick r:id="rId2"/>
              </a:rPr>
              <a:t>IxDF</a:t>
            </a:r>
            <a:endParaRPr lang="en-US" sz="2400" dirty="0" smtClean="0"/>
          </a:p>
          <a:p>
            <a:r>
              <a:rPr lang="en-US" sz="2400" dirty="0">
                <a:hlinkClick r:id="rId3"/>
              </a:rPr>
              <a:t>Contextual Design: A Participatory Design </a:t>
            </a:r>
            <a:r>
              <a:rPr lang="en-US" sz="2400" dirty="0" smtClean="0">
                <a:hlinkClick r:id="rId3"/>
              </a:rPr>
              <a:t>Method</a:t>
            </a:r>
            <a:endParaRPr lang="en-US" sz="2400" dirty="0" smtClean="0"/>
          </a:p>
          <a:p>
            <a:pPr marL="0" indent="0">
              <a:buNone/>
            </a:pPr>
            <a:r>
              <a:rPr lang="en-US" sz="2400" b="1" dirty="0" smtClean="0"/>
              <a:t>Further Reading</a:t>
            </a:r>
            <a:endParaRPr lang="en-US" sz="2400" b="1" dirty="0" smtClean="0">
              <a:hlinkClick r:id="rId4"/>
            </a:endParaRPr>
          </a:p>
          <a:p>
            <a:r>
              <a:rPr lang="en-US" sz="2400" dirty="0" smtClean="0">
                <a:hlinkClick r:id="rId4"/>
              </a:rPr>
              <a:t>Contextual </a:t>
            </a:r>
            <a:r>
              <a:rPr lang="en-US" sz="2400" dirty="0">
                <a:hlinkClick r:id="rId4"/>
              </a:rPr>
              <a:t>Design | The Encyclopedia of Human-Computer Interaction, 2nd Ed.</a:t>
            </a:r>
            <a:endParaRPr lang="en-US" sz="2400" dirty="0" smtClean="0"/>
          </a:p>
          <a:p>
            <a:endParaRPr lang="en-US" sz="2400" dirty="0" smtClean="0"/>
          </a:p>
          <a:p>
            <a:endParaRPr lang="en-US" sz="2400" dirty="0"/>
          </a:p>
        </p:txBody>
      </p:sp>
    </p:spTree>
    <p:extLst>
      <p:ext uri="{BB962C8B-B14F-4D97-AF65-F5344CB8AC3E}">
        <p14:creationId xmlns:p14="http://schemas.microsoft.com/office/powerpoint/2010/main" val="41083067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737</TotalTime>
  <Words>1922</Words>
  <Application>Microsoft Office PowerPoint</Application>
  <PresentationFormat>On-screen Show (4:3)</PresentationFormat>
  <Paragraphs>89</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What is Participatory Design?</vt:lpstr>
      <vt:lpstr>The Principles of Participatory Design</vt:lpstr>
      <vt:lpstr>Key Aspects of Participatory Design</vt:lpstr>
      <vt:lpstr>…Key Aspects of Participatory Design…</vt:lpstr>
      <vt:lpstr>…Key Aspects of Participatory Design</vt:lpstr>
      <vt:lpstr>Participatory Design and UX Design…</vt:lpstr>
      <vt:lpstr>…Participatory Design and UX Design</vt:lpstr>
      <vt:lpstr>Contextual Design: A Participatory Design Method </vt:lpstr>
      <vt:lpstr>Contextual Design: A Participatory Design Method </vt:lpstr>
      <vt:lpstr>Contextual Design</vt:lpstr>
      <vt:lpstr>Contextual Design</vt:lpstr>
      <vt:lpstr>Steps in the CD Process – Step 1  Contextual Inquiry</vt:lpstr>
      <vt:lpstr>Steps in the CD Process – Step 2 Work Modeling  </vt:lpstr>
      <vt:lpstr>Steps in the CD Process – Step 3 Consolidation  </vt:lpstr>
      <vt:lpstr>Steps in the CD Process – Step 4 Visioning  </vt:lpstr>
      <vt:lpstr>Steps in the CD Process – Step 5 User Environment Design </vt:lpstr>
      <vt:lpstr>Steps in the CD Process – Step 6 Paper Prototyping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Farhana Ashraf</cp:lastModifiedBy>
  <cp:revision>232</cp:revision>
  <dcterms:created xsi:type="dcterms:W3CDTF">2014-08-12T16:29:38Z</dcterms:created>
  <dcterms:modified xsi:type="dcterms:W3CDTF">2024-12-31T04:57:01Z</dcterms:modified>
</cp:coreProperties>
</file>