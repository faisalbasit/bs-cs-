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5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78462-CCA5-4CFA-A196-17550FE0A9E1}" type="datetimeFigureOut">
              <a:rPr lang="en-US" smtClean="0"/>
              <a:t>1/6/2020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ognitio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oductivity" TargetMode="External"/><Relationship Id="rId2" Type="http://schemas.openxmlformats.org/officeDocument/2006/relationships/hyperlink" Target="https://en.wikipedia.org/wiki/Occupational_health_and_safet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Musculoskeletal_disorder" TargetMode="External"/><Relationship Id="rId4" Type="http://schemas.openxmlformats.org/officeDocument/2006/relationships/hyperlink" Target="https://en.wikipedia.org/wiki/Repetitive_strain_injury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rthritis" TargetMode="External"/><Relationship Id="rId2" Type="http://schemas.openxmlformats.org/officeDocument/2006/relationships/hyperlink" Target="https://en.wikipedia.org/wiki/Industrial_desig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Chronic_pain" TargetMode="External"/><Relationship Id="rId4" Type="http://schemas.openxmlformats.org/officeDocument/2006/relationships/hyperlink" Target="https://en.wikipedia.org/wiki/Carpal_tunnel_syndrom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Human-Computer_Interact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articipatory_Ergonomics" TargetMode="External"/><Relationship Id="rId2" Type="http://schemas.openxmlformats.org/officeDocument/2006/relationships/hyperlink" Target="https://en.wikipedia.org/wiki/Work_system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sz="4000" dirty="0"/>
              <a:t>Ergonomics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GB" sz="2400" dirty="0"/>
              <a:t>T</a:t>
            </a:r>
            <a:r>
              <a:rPr lang="en-GB" sz="2400" dirty="0" smtClean="0"/>
              <a:t>he </a:t>
            </a:r>
            <a:r>
              <a:rPr lang="en-GB" sz="2400" dirty="0"/>
              <a:t>study of people's efficiency in their working environment</a:t>
            </a:r>
            <a:r>
              <a:rPr lang="en-GB" sz="2400" dirty="0" smtClean="0"/>
              <a:t>.</a:t>
            </a:r>
          </a:p>
          <a:p>
            <a:r>
              <a:rPr lang="en-GB" sz="2400" dirty="0"/>
              <a:t>Human factors and ergonomics (commonly referred to as human factors) is the application of psychological and physiological principles to the engineering and design of products, processes, and systems</a:t>
            </a:r>
            <a:r>
              <a:rPr lang="en-GB" sz="2400" dirty="0" smtClean="0"/>
              <a:t>.</a:t>
            </a:r>
          </a:p>
          <a:p>
            <a:r>
              <a:rPr lang="en-GB" sz="2400" dirty="0"/>
              <a:t>The goal of human factors is to reduce human error, increase productivity, and enhance safety and comfort with a specific focus on the interaction between the human and the thing of interest</a:t>
            </a:r>
            <a:r>
              <a:rPr lang="en-GB" sz="2400" dirty="0" smtClean="0"/>
              <a:t>.</a:t>
            </a:r>
          </a:p>
          <a:p>
            <a:r>
              <a:rPr lang="en-GB" sz="2400" dirty="0"/>
              <a:t>In research, human factors employs the scientific method to study human </a:t>
            </a:r>
            <a:r>
              <a:rPr lang="en-GB" sz="2400" dirty="0" smtClean="0"/>
              <a:t>behaviour </a:t>
            </a:r>
            <a:r>
              <a:rPr lang="en-GB" sz="2400" dirty="0"/>
              <a:t>so that the resultant data may be applied to the four primary goals. </a:t>
            </a:r>
            <a:endParaRPr lang="en-GB" sz="2400" dirty="0" smtClean="0"/>
          </a:p>
          <a:p>
            <a:r>
              <a:rPr lang="en-GB" sz="2400" dirty="0"/>
              <a:t>In essence, it is the study of designing equipment, devices and processes that fit the human body and its </a:t>
            </a:r>
            <a:r>
              <a:rPr lang="en-GB" sz="2400" dirty="0">
                <a:hlinkClick r:id="rId2" tooltip="Cognition"/>
              </a:rPr>
              <a:t>cognitive</a:t>
            </a:r>
            <a:r>
              <a:rPr lang="en-GB" sz="2400" dirty="0"/>
              <a:t> abilities. </a:t>
            </a:r>
            <a:endParaRPr lang="en-GB" sz="2400" dirty="0" smtClean="0"/>
          </a:p>
          <a:p>
            <a:r>
              <a:rPr lang="en-GB" sz="2400" dirty="0"/>
              <a:t>The two terms "human factors" and "ergonomics" are essentially synonymous.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18808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… Ergonomics</a:t>
            </a:r>
            <a:endParaRPr lang="en-US" sz="40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GB" sz="2400" dirty="0"/>
              <a:t>Human factors is employed to </a:t>
            </a:r>
            <a:r>
              <a:rPr lang="en-GB" sz="2400" dirty="0" err="1"/>
              <a:t>fulfill</a:t>
            </a:r>
            <a:r>
              <a:rPr lang="en-GB" sz="2400" dirty="0"/>
              <a:t> the goals of </a:t>
            </a:r>
            <a:r>
              <a:rPr lang="en-GB" sz="2400" dirty="0">
                <a:hlinkClick r:id="rId2" tooltip="Occupational health and safety"/>
              </a:rPr>
              <a:t>occupational health and safety</a:t>
            </a:r>
            <a:r>
              <a:rPr lang="en-GB" sz="2400" dirty="0"/>
              <a:t> and </a:t>
            </a:r>
            <a:r>
              <a:rPr lang="en-GB" sz="2400" dirty="0">
                <a:hlinkClick r:id="rId3" tooltip="Productivity"/>
              </a:rPr>
              <a:t>productivity</a:t>
            </a:r>
            <a:r>
              <a:rPr lang="en-GB" sz="2400" dirty="0"/>
              <a:t>. It is relevant in the design of such things as safe furniture and easy-to-use interfaces to machines and equipment.</a:t>
            </a:r>
          </a:p>
          <a:p>
            <a:r>
              <a:rPr lang="en-GB" sz="2400" dirty="0"/>
              <a:t>Proper ergonomic design is necessary to prevent </a:t>
            </a:r>
            <a:r>
              <a:rPr lang="en-GB" sz="2400" dirty="0">
                <a:hlinkClick r:id="rId4" tooltip="Repetitive strain injury"/>
              </a:rPr>
              <a:t>repetitive strain injuries</a:t>
            </a:r>
            <a:r>
              <a:rPr lang="en-GB" sz="2400" dirty="0"/>
              <a:t> and other </a:t>
            </a:r>
            <a:r>
              <a:rPr lang="en-GB" sz="2400" dirty="0">
                <a:hlinkClick r:id="rId5" tooltip="Musculoskeletal disorder"/>
              </a:rPr>
              <a:t>musculoskeletal disorders</a:t>
            </a:r>
            <a:r>
              <a:rPr lang="en-GB" sz="2400" dirty="0"/>
              <a:t>, which can develop over time and can lead to long-term disability</a:t>
            </a:r>
            <a:r>
              <a:rPr lang="en-GB" sz="2400" dirty="0" smtClean="0"/>
              <a:t>.</a:t>
            </a:r>
          </a:p>
          <a:p>
            <a:r>
              <a:rPr lang="en-GB" sz="2400" dirty="0"/>
              <a:t>Human factors and ergonomics is concerned with the "fit" between the user, equipment, and environment or "fitting a job to a person"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27795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Fields of Ergonomics</a:t>
            </a:r>
            <a:endParaRPr lang="en-US" sz="40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GB" sz="2400" dirty="0"/>
              <a:t>Ergonomics comprise three main fields of research: physical, cognitive and organizational ergonomics</a:t>
            </a:r>
            <a:r>
              <a:rPr lang="en-GB" sz="2400" dirty="0" smtClean="0"/>
              <a:t>.</a:t>
            </a:r>
          </a:p>
          <a:p>
            <a:endParaRPr lang="en-GB" sz="2400" dirty="0" smtClean="0"/>
          </a:p>
          <a:p>
            <a:endParaRPr lang="en-GB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4257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sz="3600" dirty="0"/>
              <a:t>Physical ergonomics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 fontScale="92500" lnSpcReduction="10000"/>
          </a:bodyPr>
          <a:lstStyle/>
          <a:p>
            <a:endParaRPr lang="en-US" sz="2400" dirty="0"/>
          </a:p>
          <a:p>
            <a:r>
              <a:rPr lang="en-GB" sz="2400" dirty="0"/>
              <a:t>Physical ergonomics is concerned with human anatomy, and some of the anthropometric, physiological and bio mechanical characteristics as they relate to physical activity</a:t>
            </a:r>
            <a:r>
              <a:rPr lang="en-GB" sz="2400" dirty="0" smtClean="0"/>
              <a:t>.</a:t>
            </a:r>
          </a:p>
          <a:p>
            <a:r>
              <a:rPr lang="en-GB" sz="2400" dirty="0"/>
              <a:t>Physical ergonomic principles have been widely used in the </a:t>
            </a:r>
            <a:r>
              <a:rPr lang="en-GB" sz="2400" dirty="0">
                <a:hlinkClick r:id="rId2" tooltip="Industrial design"/>
              </a:rPr>
              <a:t>design</a:t>
            </a:r>
            <a:r>
              <a:rPr lang="en-GB" sz="2400" dirty="0"/>
              <a:t> of both consumer and industrial products. </a:t>
            </a:r>
            <a:endParaRPr lang="en-GB" sz="2400" dirty="0" smtClean="0"/>
          </a:p>
          <a:p>
            <a:r>
              <a:rPr lang="en-GB" sz="2400" dirty="0" smtClean="0"/>
              <a:t>Risk </a:t>
            </a:r>
            <a:r>
              <a:rPr lang="en-GB" sz="2400" dirty="0"/>
              <a:t>factors such as localized mechanical pressures, force and  posture in a sedentary office environment lead to injuries attributed to an occupational </a:t>
            </a:r>
            <a:r>
              <a:rPr lang="en-GB" sz="2400" dirty="0" smtClean="0"/>
              <a:t>environment</a:t>
            </a:r>
          </a:p>
          <a:p>
            <a:r>
              <a:rPr lang="en-GB" sz="2400" dirty="0" smtClean="0"/>
              <a:t>Physical </a:t>
            </a:r>
            <a:r>
              <a:rPr lang="en-GB" sz="2400" dirty="0"/>
              <a:t>ergonomics is important to those diagnosed with physiological ailments or disorders such as </a:t>
            </a:r>
            <a:r>
              <a:rPr lang="en-GB" sz="2400" dirty="0">
                <a:hlinkClick r:id="rId3" tooltip="Arthritis"/>
              </a:rPr>
              <a:t>arthritis</a:t>
            </a:r>
            <a:r>
              <a:rPr lang="en-GB" sz="2400" dirty="0"/>
              <a:t> (both chronic and temporary) or </a:t>
            </a:r>
            <a:r>
              <a:rPr lang="en-GB" sz="2400" dirty="0">
                <a:hlinkClick r:id="rId4" tooltip="Carpal tunnel syndrome"/>
              </a:rPr>
              <a:t>carpal tunnel syndrome</a:t>
            </a:r>
            <a:r>
              <a:rPr lang="en-GB" sz="2400" dirty="0"/>
              <a:t>. </a:t>
            </a:r>
            <a:endParaRPr lang="en-GB" sz="2400" dirty="0" smtClean="0"/>
          </a:p>
          <a:p>
            <a:r>
              <a:rPr lang="en-GB" sz="2400" dirty="0" smtClean="0"/>
              <a:t>Pressure </a:t>
            </a:r>
            <a:r>
              <a:rPr lang="en-GB" sz="2400" dirty="0"/>
              <a:t>that is insignificant or imperceptible to those unaffected by these disorders may be very painful, or render a device unusable, for those who are. </a:t>
            </a:r>
            <a:endParaRPr lang="en-GB" sz="2400" dirty="0" smtClean="0"/>
          </a:p>
          <a:p>
            <a:r>
              <a:rPr lang="en-GB" sz="2400" dirty="0" smtClean="0"/>
              <a:t>Many </a:t>
            </a:r>
            <a:r>
              <a:rPr lang="en-GB" sz="2400" dirty="0"/>
              <a:t>ergonomically designed products are also used or recommended to treat or prevent such disorders, and to treat pressure-related </a:t>
            </a:r>
            <a:r>
              <a:rPr lang="en-GB" sz="2400" dirty="0">
                <a:hlinkClick r:id="rId5" tooltip="Chronic pain"/>
              </a:rPr>
              <a:t>chronic pain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5775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…Physical </a:t>
            </a:r>
            <a:r>
              <a:rPr lang="en-US" sz="3600" dirty="0"/>
              <a:t>ergonomics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4572000" cy="6172200"/>
          </a:xfrm>
        </p:spPr>
        <p:txBody>
          <a:bodyPr>
            <a:normAutofit/>
          </a:bodyPr>
          <a:lstStyle/>
          <a:p>
            <a:r>
              <a:rPr lang="en-GB" sz="2400" dirty="0"/>
              <a:t>Physical ergonomics: the science of designing user interaction with equipment and workplaces to fit the user.</a:t>
            </a:r>
            <a:endParaRPr lang="en-US" sz="2400" dirty="0"/>
          </a:p>
        </p:txBody>
      </p:sp>
      <p:pic>
        <p:nvPicPr>
          <p:cNvPr id="1026" name="Picture 2" descr="https://upload.wikimedia.org/wikipedia/commons/thumb/c/c0/Computer_Workstation_Variables_cleanup.png/240px-Computer_Workstation_Variables_cleanu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914400"/>
            <a:ext cx="3657600" cy="5501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95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sz="3200" dirty="0"/>
              <a:t>Cognitive ergonomics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r>
              <a:rPr lang="en-GB" sz="2400" dirty="0"/>
              <a:t>Cognitive ergonomics is concerned with mental processes, such as perception, memory, reasoning, and motor response, as they affect interactions among humans and other elements of a </a:t>
            </a:r>
            <a:r>
              <a:rPr lang="en-GB" sz="2400" dirty="0" smtClean="0"/>
              <a:t>system.</a:t>
            </a:r>
          </a:p>
          <a:p>
            <a:r>
              <a:rPr lang="en-GB" sz="2400" dirty="0"/>
              <a:t> (Relevant topics include mental workload, decision-making, skilled performance, human reliability, work stress and training as these may relate to human-system and </a:t>
            </a:r>
            <a:r>
              <a:rPr lang="en-GB" sz="2400" dirty="0">
                <a:hlinkClick r:id="rId2" tooltip="Human-Computer Interaction"/>
              </a:rPr>
              <a:t>Human-Computer Interaction</a:t>
            </a:r>
            <a:r>
              <a:rPr lang="en-GB" sz="2400" dirty="0"/>
              <a:t> design.) </a:t>
            </a:r>
            <a:endParaRPr lang="en-GB" sz="2400" dirty="0" smtClean="0"/>
          </a:p>
          <a:p>
            <a:r>
              <a:rPr lang="en-GB" sz="2400" dirty="0" smtClean="0"/>
              <a:t>Studies </a:t>
            </a:r>
            <a:r>
              <a:rPr lang="en-GB" sz="2400" dirty="0"/>
              <a:t>show a correlation between the time one spends sedentary and their cognitive function such as lowered mood and depression.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782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sz="3200" dirty="0"/>
              <a:t>Organizational ergonomics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r>
              <a:rPr lang="en-GB" sz="2400" dirty="0"/>
              <a:t>Organizational ergonomics is concerned with the optimization of socio-technical systems, including their organizational structures, policies, and </a:t>
            </a:r>
            <a:r>
              <a:rPr lang="en-GB" sz="2400" dirty="0" smtClean="0"/>
              <a:t>processes.</a:t>
            </a:r>
          </a:p>
          <a:p>
            <a:r>
              <a:rPr lang="en-GB" sz="2400" dirty="0" smtClean="0"/>
              <a:t>Relevant </a:t>
            </a:r>
            <a:r>
              <a:rPr lang="en-GB" sz="2400" dirty="0"/>
              <a:t>topics include communication, crew resource management, work design, </a:t>
            </a:r>
            <a:r>
              <a:rPr lang="en-GB" sz="2400" dirty="0">
                <a:hlinkClick r:id="rId2" tooltip="Work systems"/>
              </a:rPr>
              <a:t>work systems</a:t>
            </a:r>
            <a:r>
              <a:rPr lang="en-GB" sz="2400" dirty="0"/>
              <a:t>, design of working times, teamwork, </a:t>
            </a:r>
            <a:r>
              <a:rPr lang="en-GB" sz="2400" dirty="0">
                <a:hlinkClick r:id="rId3" tooltip="Participatory Ergonomics"/>
              </a:rPr>
              <a:t>participatory design</a:t>
            </a:r>
            <a:r>
              <a:rPr lang="en-GB" sz="2400" dirty="0"/>
              <a:t>, community ergonomics, cooperative work, new work programs, virtual organizations, telework, and quality management</a:t>
            </a:r>
            <a:r>
              <a:rPr lang="en-GB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2610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Ergonomics and HCI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r>
              <a:rPr lang="en-GB" sz="2400" b="1" dirty="0"/>
              <a:t>Ergonomics</a:t>
            </a:r>
            <a:r>
              <a:rPr lang="en-GB" sz="2400" dirty="0"/>
              <a:t> and </a:t>
            </a:r>
            <a:r>
              <a:rPr lang="en-GB" sz="2400" b="1" dirty="0"/>
              <a:t>HCI</a:t>
            </a:r>
            <a:r>
              <a:rPr lang="en-GB" sz="2400" dirty="0"/>
              <a:t> are related to each other because </a:t>
            </a:r>
            <a:r>
              <a:rPr lang="en-GB" sz="2400" b="1" dirty="0"/>
              <a:t>ergonomics</a:t>
            </a:r>
            <a:r>
              <a:rPr lang="en-GB" sz="2400" dirty="0"/>
              <a:t> is the working environment the end user is operating within and </a:t>
            </a:r>
            <a:r>
              <a:rPr lang="en-GB" sz="2400" b="1" dirty="0"/>
              <a:t>HCI</a:t>
            </a:r>
            <a:r>
              <a:rPr lang="en-GB" sz="2400" dirty="0"/>
              <a:t> is the interaction the end user actually has with the computer system</a:t>
            </a:r>
            <a:r>
              <a:rPr lang="en-GB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174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267</Words>
  <Application>Microsoft Office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Ergonomics</vt:lpstr>
      <vt:lpstr>… Ergonomics</vt:lpstr>
      <vt:lpstr>Fields of Ergonomics</vt:lpstr>
      <vt:lpstr>Physical ergonomics</vt:lpstr>
      <vt:lpstr>…Physical ergonomics</vt:lpstr>
      <vt:lpstr>Cognitive ergonomics</vt:lpstr>
      <vt:lpstr>Organizational ergonomics</vt:lpstr>
      <vt:lpstr>Ergonomics and HCI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173</cp:revision>
  <dcterms:created xsi:type="dcterms:W3CDTF">2014-08-12T16:29:38Z</dcterms:created>
  <dcterms:modified xsi:type="dcterms:W3CDTF">2020-01-06T08:31:58Z</dcterms:modified>
</cp:coreProperties>
</file>