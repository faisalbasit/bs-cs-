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59" r:id="rId3"/>
    <p:sldId id="266" r:id="rId4"/>
    <p:sldId id="265" r:id="rId5"/>
    <p:sldId id="264" r:id="rId6"/>
    <p:sldId id="263" r:id="rId7"/>
    <p:sldId id="260" r:id="rId8"/>
    <p:sldId id="261" r:id="rId9"/>
    <p:sldId id="262"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E49B43-7BB9-4DB8-BD0E-EBE9B5DA0E99}" type="datetimeFigureOut">
              <a:rPr lang="en-US" smtClean="0"/>
              <a:t>1/6/2020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64DAD-EE4D-4247-A7A9-A4939FF1F96A}" type="slidenum">
              <a:rPr lang="en-US" smtClean="0"/>
              <a:t>‹#›</a:t>
            </a:fld>
            <a:endParaRPr lang="en-US"/>
          </a:p>
        </p:txBody>
      </p:sp>
    </p:spTree>
    <p:extLst>
      <p:ext uri="{BB962C8B-B14F-4D97-AF65-F5344CB8AC3E}">
        <p14:creationId xmlns:p14="http://schemas.microsoft.com/office/powerpoint/2010/main" val="315371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b="1" i="0" kern="1200" dirty="0" smtClean="0">
                <a:solidFill>
                  <a:schemeClr val="tx1"/>
                </a:solidFill>
                <a:effectLst/>
                <a:latin typeface="+mn-lt"/>
                <a:ea typeface="+mn-ea"/>
                <a:cs typeface="+mn-cs"/>
              </a:rPr>
              <a:t>Stimulus (plural stimuli) is a thing or event that evokes a specific functional reaction in an organ or tissue.</a:t>
            </a:r>
            <a:endParaRPr lang="en-US" sz="1400" b="1" dirty="0"/>
          </a:p>
        </p:txBody>
      </p:sp>
      <p:sp>
        <p:nvSpPr>
          <p:cNvPr id="4" name="Slide Number Placeholder 3"/>
          <p:cNvSpPr>
            <a:spLocks noGrp="1"/>
          </p:cNvSpPr>
          <p:nvPr>
            <p:ph type="sldNum" sz="quarter" idx="10"/>
          </p:nvPr>
        </p:nvSpPr>
        <p:spPr/>
        <p:txBody>
          <a:bodyPr/>
          <a:lstStyle/>
          <a:p>
            <a:fld id="{54A64DAD-EE4D-4247-A7A9-A4939FF1F96A}" type="slidenum">
              <a:rPr lang="en-US" smtClean="0"/>
              <a:t>7</a:t>
            </a:fld>
            <a:endParaRPr lang="en-US"/>
          </a:p>
        </p:txBody>
      </p:sp>
    </p:spTree>
    <p:extLst>
      <p:ext uri="{BB962C8B-B14F-4D97-AF65-F5344CB8AC3E}">
        <p14:creationId xmlns:p14="http://schemas.microsoft.com/office/powerpoint/2010/main" val="2205398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1/6/2020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Reaction_time" TargetMode="External"/><Relationship Id="rId2" Type="http://schemas.openxmlformats.org/officeDocument/2006/relationships/hyperlink" Target="https://en.wikipedia.org/wiki/Logarithm"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en.wikipedia.org/wiki/Experience_curve_effect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Pareto_principle#cite_note-2" TargetMode="External"/><Relationship Id="rId2" Type="http://schemas.openxmlformats.org/officeDocument/2006/relationships/hyperlink" Target="https://en.wikipedia.org/wiki/Pareto_principle#cite_note-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Ray_Hyman" TargetMode="External"/><Relationship Id="rId2" Type="http://schemas.openxmlformats.org/officeDocument/2006/relationships/hyperlink" Target="https://en.wikipedia.org/wiki/W._E._Hick" TargetMode="External"/><Relationship Id="rId1" Type="http://schemas.openxmlformats.org/officeDocument/2006/relationships/slideLayout" Target="../slideLayouts/slideLayout2.xml"/><Relationship Id="rId5" Type="http://schemas.openxmlformats.org/officeDocument/2006/relationships/hyperlink" Target="https://en.wikipedia.org/wiki/Menu_(computing)" TargetMode="External"/><Relationship Id="rId4" Type="http://schemas.openxmlformats.org/officeDocument/2006/relationships/hyperlink" Target="https://en.wikipedia.org/wiki/Logarith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Bi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en.wikipedia.org/wiki/Informatio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Chunking_(psychology)" TargetMode="External"/><Relationship Id="rId2" Type="http://schemas.openxmlformats.org/officeDocument/2006/relationships/hyperlink" Target="https://en.wikipedia.org/wiki/Memory_spa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smtClean="0"/>
              <a:t>Five HCI Laws for UX Design</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457200" indent="-457200">
              <a:buFont typeface="+mj-lt"/>
              <a:buAutoNum type="arabicPeriod"/>
            </a:pPr>
            <a:r>
              <a:rPr lang="en-GB" sz="2400" dirty="0"/>
              <a:t>Miller’s Law of Short-Term Memory </a:t>
            </a:r>
            <a:r>
              <a:rPr lang="en-GB" sz="2400" dirty="0" smtClean="0"/>
              <a:t>Load</a:t>
            </a:r>
            <a:endParaRPr lang="en-GB" sz="2400" dirty="0"/>
          </a:p>
          <a:p>
            <a:pPr marL="457200" indent="-457200">
              <a:buFont typeface="+mj-lt"/>
              <a:buAutoNum type="arabicPeriod"/>
            </a:pPr>
            <a:r>
              <a:rPr lang="en-GB" sz="2400" dirty="0" err="1"/>
              <a:t>Fitts</a:t>
            </a:r>
            <a:r>
              <a:rPr lang="en-GB" sz="2400" dirty="0"/>
              <a:t>’ </a:t>
            </a:r>
            <a:r>
              <a:rPr lang="en-GB" sz="2400" dirty="0" smtClean="0"/>
              <a:t>Law</a:t>
            </a:r>
            <a:endParaRPr lang="en-GB" sz="2400" dirty="0"/>
          </a:p>
          <a:p>
            <a:pPr marL="457200" indent="-457200">
              <a:buFont typeface="+mj-lt"/>
              <a:buAutoNum type="arabicPeriod"/>
            </a:pPr>
            <a:r>
              <a:rPr lang="en-GB" sz="2400" dirty="0"/>
              <a:t>Hick-Hyman </a:t>
            </a:r>
            <a:r>
              <a:rPr lang="en-GB" sz="2400" dirty="0" smtClean="0"/>
              <a:t>Law</a:t>
            </a:r>
            <a:endParaRPr lang="en-GB" sz="2400" dirty="0"/>
          </a:p>
          <a:p>
            <a:pPr marL="457200" indent="-457200">
              <a:buFont typeface="+mj-lt"/>
              <a:buAutoNum type="arabicPeriod"/>
            </a:pPr>
            <a:r>
              <a:rPr lang="en-GB" sz="2400" dirty="0"/>
              <a:t>Power Law of </a:t>
            </a:r>
            <a:r>
              <a:rPr lang="en-GB" sz="2400" dirty="0" smtClean="0"/>
              <a:t>Practice</a:t>
            </a:r>
            <a:endParaRPr lang="en-GB" sz="2400" dirty="0"/>
          </a:p>
          <a:p>
            <a:pPr marL="457200" indent="-457200">
              <a:buFont typeface="+mj-lt"/>
              <a:buAutoNum type="arabicPeriod"/>
            </a:pPr>
            <a:r>
              <a:rPr lang="en-GB" sz="2400" dirty="0"/>
              <a:t>Pareto </a:t>
            </a:r>
            <a:r>
              <a:rPr lang="en-GB" sz="2400" dirty="0" smtClean="0"/>
              <a:t>Principle</a:t>
            </a:r>
            <a:endParaRPr lang="en-US" sz="2400" dirty="0"/>
          </a:p>
          <a:p>
            <a:endParaRPr lang="en-US" sz="2400" dirty="0"/>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err="1" smtClean="0">
                <a:latin typeface="+mn-lt"/>
              </a:rPr>
              <a:t>Fitts’s</a:t>
            </a:r>
            <a:r>
              <a:rPr lang="en-GB" sz="2800" b="1" dirty="0" smtClean="0">
                <a:latin typeface="+mn-lt"/>
              </a:rPr>
              <a:t> </a:t>
            </a:r>
            <a:r>
              <a:rPr lang="en-GB" sz="2800" b="1" dirty="0">
                <a:latin typeface="+mn-lt"/>
              </a:rPr>
              <a:t>Law - </a:t>
            </a:r>
            <a:r>
              <a:rPr lang="en-GB" sz="2800" i="1" dirty="0">
                <a:latin typeface="+mn-lt"/>
              </a:rPr>
              <a:t>Users will hit a target faster if it’s big and close to where they start.</a:t>
            </a:r>
            <a:endParaRPr lang="en-GB" sz="2800" i="1" dirty="0">
              <a:latin typeface="+mn-lt"/>
            </a:endParaRPr>
          </a:p>
        </p:txBody>
      </p:sp>
      <p:sp>
        <p:nvSpPr>
          <p:cNvPr id="7" name="Content Placeholder 2"/>
          <p:cNvSpPr>
            <a:spLocks noGrp="1"/>
          </p:cNvSpPr>
          <p:nvPr>
            <p:ph idx="1"/>
          </p:nvPr>
        </p:nvSpPr>
        <p:spPr>
          <a:xfrm>
            <a:off x="0" y="1045315"/>
            <a:ext cx="9144000" cy="5681770"/>
          </a:xfrm>
        </p:spPr>
        <p:txBody>
          <a:bodyPr>
            <a:normAutofit fontScale="92500" lnSpcReduction="10000"/>
          </a:bodyPr>
          <a:lstStyle/>
          <a:p>
            <a:r>
              <a:rPr lang="en-GB" sz="2400" dirty="0" err="1"/>
              <a:t>Fitts's</a:t>
            </a:r>
            <a:r>
              <a:rPr lang="en-GB" sz="2400" dirty="0"/>
              <a:t> Law provides a model of human movement, established in 1954 by Paul </a:t>
            </a:r>
            <a:r>
              <a:rPr lang="en-GB" sz="2400" dirty="0" err="1"/>
              <a:t>Fitts</a:t>
            </a:r>
            <a:r>
              <a:rPr lang="en-GB" sz="2400" dirty="0"/>
              <a:t>, which can accurately predict the amount of time taken to move to and select a target.</a:t>
            </a:r>
          </a:p>
          <a:p>
            <a:r>
              <a:rPr lang="en-GB" sz="2400" dirty="0" err="1"/>
              <a:t>Fitts's</a:t>
            </a:r>
            <a:r>
              <a:rPr lang="en-GB" sz="2400" dirty="0"/>
              <a:t> Law states "...the time to acquire a target is a function of the distance to and size of the target". </a:t>
            </a:r>
          </a:p>
          <a:p>
            <a:r>
              <a:rPr lang="en-GB" sz="2400" dirty="0"/>
              <a:t>As the distance increases, movement takes longer and as the size decreases selection again takes longer.</a:t>
            </a:r>
          </a:p>
          <a:p>
            <a:r>
              <a:rPr lang="en-GB" sz="2400" dirty="0"/>
              <a:t>Whilst Paul </a:t>
            </a:r>
            <a:r>
              <a:rPr lang="en-GB" sz="2400" dirty="0" err="1"/>
              <a:t>Fitts</a:t>
            </a:r>
            <a:r>
              <a:rPr lang="en-GB" sz="2400" dirty="0"/>
              <a:t> established his law of movement before the advent of graphical user interfaces, the law is no less robust when applied to navigation through the virtual world.</a:t>
            </a:r>
          </a:p>
          <a:p>
            <a:r>
              <a:rPr lang="en-GB" sz="2400" dirty="0"/>
              <a:t>The aim of user interface design should be to reduce the distance from one point to the next and make the target object large enough to enable prompt detection and selection of interactive elements without sacrificing accuracy. One particular aspect of this is ensuring that users are able to click anywhere on an interactive element to carry out the assigned action. For example, links, whether they are in the form of text, images or buttons (, should afford clicking on the whole region.</a:t>
            </a:r>
          </a:p>
          <a:p>
            <a:endParaRPr lang="en-US" sz="2400" dirty="0" smtClean="0"/>
          </a:p>
        </p:txBody>
      </p:sp>
    </p:spTree>
    <p:extLst>
      <p:ext uri="{BB962C8B-B14F-4D97-AF65-F5344CB8AC3E}">
        <p14:creationId xmlns:p14="http://schemas.microsoft.com/office/powerpoint/2010/main" val="16291628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a:latin typeface="+mn-lt"/>
              </a:rPr>
              <a:t>Power Law of </a:t>
            </a:r>
            <a:r>
              <a:rPr lang="en-GB" sz="2800" b="1" dirty="0" smtClean="0">
                <a:latin typeface="+mn-lt"/>
              </a:rPr>
              <a:t>Practice - </a:t>
            </a:r>
            <a:r>
              <a:rPr lang="en-GB" sz="2800" i="1" dirty="0"/>
              <a:t>Users do stuff faster the more they practice.</a:t>
            </a:r>
            <a:r>
              <a:rPr lang="en-US" sz="2800" i="1" dirty="0"/>
              <a:t/>
            </a:r>
            <a:br>
              <a:rPr lang="en-US" sz="2800" i="1" dirty="0"/>
            </a:br>
            <a:endParaRPr lang="en-GB" sz="2800" i="1" dirty="0">
              <a:latin typeface="+mn-lt"/>
            </a:endParaRPr>
          </a:p>
        </p:txBody>
      </p:sp>
      <p:sp>
        <p:nvSpPr>
          <p:cNvPr id="7" name="Content Placeholder 2"/>
          <p:cNvSpPr>
            <a:spLocks noGrp="1"/>
          </p:cNvSpPr>
          <p:nvPr>
            <p:ph idx="1"/>
          </p:nvPr>
        </p:nvSpPr>
        <p:spPr>
          <a:xfrm>
            <a:off x="0" y="1045315"/>
            <a:ext cx="9144000" cy="5681770"/>
          </a:xfrm>
        </p:spPr>
        <p:txBody>
          <a:bodyPr>
            <a:normAutofit/>
          </a:bodyPr>
          <a:lstStyle/>
          <a:p>
            <a:r>
              <a:rPr lang="en-GB" sz="2400" dirty="0" smtClean="0"/>
              <a:t>The</a:t>
            </a:r>
            <a:r>
              <a:rPr lang="en-GB" sz="2400" dirty="0"/>
              <a:t> </a:t>
            </a:r>
            <a:r>
              <a:rPr lang="en-GB" sz="2400" b="1" dirty="0"/>
              <a:t>power law of practice</a:t>
            </a:r>
            <a:r>
              <a:rPr lang="en-GB" sz="2400" dirty="0"/>
              <a:t> states that the </a:t>
            </a:r>
            <a:r>
              <a:rPr lang="en-GB" sz="2400" dirty="0">
                <a:hlinkClick r:id="rId2" tooltip="Logarithm"/>
              </a:rPr>
              <a:t>logarithm</a:t>
            </a:r>
            <a:r>
              <a:rPr lang="en-GB" sz="2400" dirty="0"/>
              <a:t> of the </a:t>
            </a:r>
            <a:r>
              <a:rPr lang="en-GB" sz="2400" dirty="0">
                <a:hlinkClick r:id="rId3" tooltip="Reaction time"/>
              </a:rPr>
              <a:t>reaction time</a:t>
            </a:r>
            <a:r>
              <a:rPr lang="en-GB" sz="2400" dirty="0"/>
              <a:t> for a particular task decreases linearly with the logarithm of the number of practice trials taken. It is an example of the </a:t>
            </a:r>
            <a:r>
              <a:rPr lang="en-GB" sz="2400" dirty="0">
                <a:hlinkClick r:id="rId4" tooltip="Experience curve effects"/>
              </a:rPr>
              <a:t>learning curve</a:t>
            </a:r>
            <a:r>
              <a:rPr lang="en-GB" sz="2400" dirty="0"/>
              <a:t> effect on performance. It was first proposed as a psychological law by </a:t>
            </a:r>
            <a:r>
              <a:rPr lang="en-GB" sz="2400" dirty="0" err="1"/>
              <a:t>Snoddy</a:t>
            </a:r>
            <a:r>
              <a:rPr lang="en-GB" sz="2400" dirty="0"/>
              <a:t> (1928</a:t>
            </a:r>
            <a:r>
              <a:rPr lang="en-GB" sz="2400" dirty="0" smtClean="0"/>
              <a:t>)</a:t>
            </a:r>
          </a:p>
          <a:p>
            <a:r>
              <a:rPr lang="en-GB" sz="2400" dirty="0"/>
              <a:t>Example graph of the power law, x axis represents time, y axis represents reaction time</a:t>
            </a:r>
            <a:endParaRPr lang="en-GB" sz="2400" dirty="0" smtClean="0"/>
          </a:p>
          <a:p>
            <a:endParaRPr lang="en-US" sz="2400" dirty="0" smtClean="0"/>
          </a:p>
        </p:txBody>
      </p:sp>
      <p:pic>
        <p:nvPicPr>
          <p:cNvPr id="1026" name="Picture 2" descr="https://upload.wikimedia.org/wikipedia/commons/thumb/8/8a/Long_tail.svg/1280px-Long_tail.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0400" y="4495800"/>
            <a:ext cx="3511550" cy="1827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5474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a:t>Pareto principle</a:t>
            </a:r>
            <a:endParaRPr lang="en-GB" sz="2800" i="1" dirty="0">
              <a:latin typeface="+mn-lt"/>
            </a:endParaRPr>
          </a:p>
        </p:txBody>
      </p:sp>
      <p:sp>
        <p:nvSpPr>
          <p:cNvPr id="7" name="Content Placeholder 2"/>
          <p:cNvSpPr>
            <a:spLocks noGrp="1"/>
          </p:cNvSpPr>
          <p:nvPr>
            <p:ph idx="1"/>
          </p:nvPr>
        </p:nvSpPr>
        <p:spPr>
          <a:xfrm>
            <a:off x="0" y="1045315"/>
            <a:ext cx="9144000" cy="5681770"/>
          </a:xfrm>
        </p:spPr>
        <p:txBody>
          <a:bodyPr>
            <a:normAutofit/>
          </a:bodyPr>
          <a:lstStyle/>
          <a:p>
            <a:r>
              <a:rPr lang="en-GB" sz="2400" dirty="0"/>
              <a:t>The </a:t>
            </a:r>
            <a:r>
              <a:rPr lang="en-GB" sz="2400" b="1" dirty="0"/>
              <a:t>Pareto principle</a:t>
            </a:r>
            <a:r>
              <a:rPr lang="en-GB" sz="2400" dirty="0"/>
              <a:t> (also known as the </a:t>
            </a:r>
            <a:r>
              <a:rPr lang="en-GB" sz="2400" b="1" dirty="0"/>
              <a:t>80/20 rule</a:t>
            </a:r>
            <a:r>
              <a:rPr lang="en-GB" sz="2400" dirty="0"/>
              <a:t>, the </a:t>
            </a:r>
            <a:r>
              <a:rPr lang="en-GB" sz="2400" b="1" dirty="0"/>
              <a:t>law of the vital few,</a:t>
            </a:r>
            <a:r>
              <a:rPr lang="en-GB" sz="2400" dirty="0"/>
              <a:t> or the </a:t>
            </a:r>
            <a:r>
              <a:rPr lang="en-GB" sz="2400" b="1" dirty="0"/>
              <a:t>principle of factor </a:t>
            </a:r>
            <a:r>
              <a:rPr lang="en-GB" sz="2400" b="1" dirty="0" err="1"/>
              <a:t>sparsity</a:t>
            </a:r>
            <a:r>
              <a:rPr lang="en-GB" sz="2400" dirty="0"/>
              <a:t>)</a:t>
            </a:r>
            <a:r>
              <a:rPr lang="en-GB" sz="2400" baseline="30000" dirty="0">
                <a:hlinkClick r:id="rId2"/>
              </a:rPr>
              <a:t>[1]</a:t>
            </a:r>
            <a:r>
              <a:rPr lang="en-GB" sz="2400" baseline="30000" dirty="0">
                <a:hlinkClick r:id="rId3"/>
              </a:rPr>
              <a:t>[2]</a:t>
            </a:r>
            <a:r>
              <a:rPr lang="en-GB" sz="2400" dirty="0"/>
              <a:t> states that, for many events, roughly 80% of the effects come from 20% of the causes</a:t>
            </a:r>
            <a:r>
              <a:rPr lang="en-GB" sz="2400" dirty="0" smtClean="0"/>
              <a:t>.</a:t>
            </a:r>
          </a:p>
          <a:p>
            <a:r>
              <a:rPr lang="en-GB" sz="2400" dirty="0"/>
              <a:t>The 80/20 rule – the majority of stuff will be addressed by a minority of things</a:t>
            </a:r>
            <a:r>
              <a:rPr lang="en-GB" sz="2400" dirty="0" smtClean="0"/>
              <a:t>.</a:t>
            </a:r>
          </a:p>
          <a:p>
            <a:r>
              <a:rPr lang="en-GB" sz="2400" dirty="0" smtClean="0"/>
              <a:t>(</a:t>
            </a:r>
            <a:r>
              <a:rPr lang="en-GB" sz="2400" dirty="0" err="1"/>
              <a:t>Eg</a:t>
            </a:r>
            <a:r>
              <a:rPr lang="en-GB" sz="2400" dirty="0"/>
              <a:t>. “A small portion of our site gets hit by a majority of our users.”)</a:t>
            </a:r>
            <a:endParaRPr lang="en-US" sz="2400" dirty="0" smtClean="0"/>
          </a:p>
        </p:txBody>
      </p:sp>
    </p:spTree>
    <p:extLst>
      <p:ext uri="{BB962C8B-B14F-4D97-AF65-F5344CB8AC3E}">
        <p14:creationId xmlns:p14="http://schemas.microsoft.com/office/powerpoint/2010/main" val="24034388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a:t>Hick's law - </a:t>
            </a:r>
            <a:r>
              <a:rPr lang="en-GB" sz="2800" i="1" dirty="0"/>
              <a:t>Users will take longer to decide if you give me heaps of choices.</a:t>
            </a:r>
            <a:br>
              <a:rPr lang="en-GB" sz="2800" i="1" dirty="0"/>
            </a:br>
            <a:endParaRPr lang="en-GB" sz="2800" i="1" dirty="0">
              <a:latin typeface="+mn-lt"/>
            </a:endParaRPr>
          </a:p>
        </p:txBody>
      </p:sp>
      <p:sp>
        <p:nvSpPr>
          <p:cNvPr id="7" name="Content Placeholder 2"/>
          <p:cNvSpPr>
            <a:spLocks noGrp="1"/>
          </p:cNvSpPr>
          <p:nvPr>
            <p:ph idx="1"/>
          </p:nvPr>
        </p:nvSpPr>
        <p:spPr>
          <a:xfrm>
            <a:off x="0" y="1045315"/>
            <a:ext cx="9144000" cy="5681770"/>
          </a:xfrm>
        </p:spPr>
        <p:txBody>
          <a:bodyPr>
            <a:normAutofit lnSpcReduction="10000"/>
          </a:bodyPr>
          <a:lstStyle/>
          <a:p>
            <a:r>
              <a:rPr lang="en-GB" sz="2400" b="1" dirty="0"/>
              <a:t>Hick's law</a:t>
            </a:r>
            <a:r>
              <a:rPr lang="en-GB" sz="2400" dirty="0"/>
              <a:t>, or the </a:t>
            </a:r>
            <a:r>
              <a:rPr lang="en-GB" sz="2400" b="1" dirty="0"/>
              <a:t>Hick–Hyman law</a:t>
            </a:r>
            <a:r>
              <a:rPr lang="en-GB" sz="2400" dirty="0"/>
              <a:t>, named after British and American psychologists </a:t>
            </a:r>
            <a:r>
              <a:rPr lang="en-GB" sz="2400" dirty="0">
                <a:hlinkClick r:id="rId2" tooltip="W. E. Hick"/>
              </a:rPr>
              <a:t>William Edmund Hick</a:t>
            </a:r>
            <a:r>
              <a:rPr lang="en-GB" sz="2400" dirty="0"/>
              <a:t> and </a:t>
            </a:r>
            <a:r>
              <a:rPr lang="en-GB" sz="2400" dirty="0">
                <a:hlinkClick r:id="rId3" tooltip="Ray Hyman"/>
              </a:rPr>
              <a:t>Ray Hyman</a:t>
            </a:r>
            <a:r>
              <a:rPr lang="en-GB" sz="2400" dirty="0"/>
              <a:t>, describes the time it takes for a person to make a decision as a result of the possible choices he or she has: increasing the number of choices will increase the decision time </a:t>
            </a:r>
            <a:r>
              <a:rPr lang="en-GB" sz="2400" dirty="0">
                <a:hlinkClick r:id="rId4" tooltip="Logarithm"/>
              </a:rPr>
              <a:t>logarithmically</a:t>
            </a:r>
            <a:r>
              <a:rPr lang="en-GB" sz="2400" dirty="0"/>
              <a:t>. </a:t>
            </a:r>
            <a:endParaRPr lang="en-GB" sz="2400" dirty="0" smtClean="0"/>
          </a:p>
          <a:p>
            <a:r>
              <a:rPr lang="en-GB" sz="2400" dirty="0" smtClean="0"/>
              <a:t>The </a:t>
            </a:r>
            <a:r>
              <a:rPr lang="en-GB" sz="2400" dirty="0"/>
              <a:t>Hick–Hyman law assesses cognitive information capacity in choice reaction experiments. The amount of time taken to process a certain amount of bits in the Hick–Hyman law is known as the </a:t>
            </a:r>
            <a:r>
              <a:rPr lang="en-GB" sz="2400" i="1" dirty="0"/>
              <a:t>rate of gain of information</a:t>
            </a:r>
            <a:r>
              <a:rPr lang="en-GB" sz="2400" dirty="0" smtClean="0"/>
              <a:t>.</a:t>
            </a:r>
          </a:p>
          <a:p>
            <a:r>
              <a:rPr lang="en-GB" sz="2400" dirty="0"/>
              <a:t>Hick's law is sometimes cited to justify </a:t>
            </a:r>
            <a:r>
              <a:rPr lang="en-GB" sz="2400" dirty="0">
                <a:hlinkClick r:id="rId5" tooltip="Menu (computing)"/>
              </a:rPr>
              <a:t>menu</a:t>
            </a:r>
            <a:r>
              <a:rPr lang="en-GB" sz="2400" dirty="0"/>
              <a:t> design decisions. </a:t>
            </a:r>
            <a:endParaRPr lang="en-GB" sz="2400" dirty="0" smtClean="0"/>
          </a:p>
          <a:p>
            <a:pPr lvl="1"/>
            <a:r>
              <a:rPr lang="en-GB" sz="2000" dirty="0" smtClean="0"/>
              <a:t>For </a:t>
            </a:r>
            <a:r>
              <a:rPr lang="en-GB" sz="2000" dirty="0"/>
              <a:t>example, to find a given word (e.g. the name of a command) in a randomly ordered word list (e.g. a menu), scanning of each word in the list is required, consuming linear time, so Hick's law does not apply. </a:t>
            </a:r>
            <a:endParaRPr lang="en-GB" sz="2000" dirty="0" smtClean="0"/>
          </a:p>
          <a:p>
            <a:pPr lvl="1"/>
            <a:r>
              <a:rPr lang="en-GB" sz="2000" dirty="0" smtClean="0"/>
              <a:t>However</a:t>
            </a:r>
            <a:r>
              <a:rPr lang="en-GB" sz="2000" dirty="0"/>
              <a:t>, if the list is alphabetical and the user knows the name of the command, he or she may be able to use a subdividing strategy that works in logarithmic time</a:t>
            </a:r>
            <a:endParaRPr lang="en-US" sz="2000" dirty="0" smtClean="0"/>
          </a:p>
        </p:txBody>
      </p:sp>
    </p:spTree>
    <p:extLst>
      <p:ext uri="{BB962C8B-B14F-4D97-AF65-F5344CB8AC3E}">
        <p14:creationId xmlns:p14="http://schemas.microsoft.com/office/powerpoint/2010/main" val="39366158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a:latin typeface="+mn-lt"/>
              </a:rPr>
              <a:t>Miller’s </a:t>
            </a:r>
            <a:r>
              <a:rPr lang="en-GB" sz="2800" b="1" dirty="0" smtClean="0">
                <a:latin typeface="+mn-lt"/>
              </a:rPr>
              <a:t>Law- </a:t>
            </a:r>
            <a:r>
              <a:rPr lang="en-GB" sz="2800" i="1" dirty="0">
                <a:latin typeface="+mn-lt"/>
              </a:rPr>
              <a:t>People can only hold up to about 7 pieces of info in short-term memory.</a:t>
            </a:r>
            <a:br>
              <a:rPr lang="en-GB" sz="2800" i="1" dirty="0">
                <a:latin typeface="+mn-lt"/>
              </a:rPr>
            </a:br>
            <a:endParaRPr lang="en-GB" sz="2800" i="1" dirty="0">
              <a:latin typeface="+mn-lt"/>
            </a:endParaRPr>
          </a:p>
        </p:txBody>
      </p:sp>
      <p:sp>
        <p:nvSpPr>
          <p:cNvPr id="7" name="Content Placeholder 2"/>
          <p:cNvSpPr>
            <a:spLocks noGrp="1"/>
          </p:cNvSpPr>
          <p:nvPr>
            <p:ph idx="1"/>
          </p:nvPr>
        </p:nvSpPr>
        <p:spPr>
          <a:xfrm>
            <a:off x="0" y="914400"/>
            <a:ext cx="9144000" cy="5943600"/>
          </a:xfrm>
        </p:spPr>
        <p:txBody>
          <a:bodyPr>
            <a:normAutofit/>
          </a:bodyPr>
          <a:lstStyle/>
          <a:p>
            <a:r>
              <a:rPr lang="en-GB" sz="2400" dirty="0"/>
              <a:t>Some Limits on Our Capacity for Processing Information" is one of the most highly cited papers in psychology</a:t>
            </a:r>
            <a:r>
              <a:rPr lang="en-GB" sz="2400" dirty="0" smtClean="0"/>
              <a:t>.</a:t>
            </a:r>
          </a:p>
          <a:p>
            <a:r>
              <a:rPr lang="en-GB" sz="2400" dirty="0"/>
              <a:t>It was published in 1956 in Psychological Review by the cognitive psychologist George A. Miller of Harvard University's Department of Psychology</a:t>
            </a:r>
            <a:r>
              <a:rPr lang="en-GB" sz="2400" dirty="0" smtClean="0"/>
              <a:t>.</a:t>
            </a:r>
          </a:p>
          <a:p>
            <a:r>
              <a:rPr lang="en-GB" sz="2400" dirty="0"/>
              <a:t>It is often interpreted to argue that the number of objects an average human can hold in short-term memory is 7 ± 2. This has occasionally been referred to as Miller's law</a:t>
            </a:r>
            <a:r>
              <a:rPr lang="en-GB" sz="2400" dirty="0" smtClean="0"/>
              <a:t>.</a:t>
            </a:r>
          </a:p>
          <a:p>
            <a:r>
              <a:rPr lang="en-GB" sz="2400" dirty="0"/>
              <a:t>Miller discussed a coincidence between the limits of one-dimensional absolute judgment and the limits of short-term memory.</a:t>
            </a:r>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37851215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Autofit/>
          </a:bodyPr>
          <a:lstStyle/>
          <a:p>
            <a:r>
              <a:rPr lang="en-GB" sz="2400" b="1" dirty="0">
                <a:latin typeface="+mn-lt"/>
              </a:rPr>
              <a:t>Miller’s </a:t>
            </a:r>
            <a:r>
              <a:rPr lang="en-GB" sz="2400" b="1" dirty="0" smtClean="0">
                <a:latin typeface="+mn-lt"/>
              </a:rPr>
              <a:t>Law- </a:t>
            </a:r>
            <a:r>
              <a:rPr lang="en-GB" sz="2400" i="1" dirty="0">
                <a:latin typeface="+mn-lt"/>
              </a:rPr>
              <a:t>People can only hold up to about 7 pieces of info in short-term memory</a:t>
            </a:r>
            <a:r>
              <a:rPr lang="en-GB" sz="2400" i="1" dirty="0" smtClean="0">
                <a:latin typeface="+mn-lt"/>
              </a:rPr>
              <a:t>.</a:t>
            </a:r>
            <a:endParaRPr lang="en-GB" sz="2400" i="1" dirty="0">
              <a:latin typeface="+mn-lt"/>
            </a:endParaRPr>
          </a:p>
        </p:txBody>
      </p:sp>
      <p:sp>
        <p:nvSpPr>
          <p:cNvPr id="7" name="Content Placeholder 2"/>
          <p:cNvSpPr>
            <a:spLocks noGrp="1"/>
          </p:cNvSpPr>
          <p:nvPr>
            <p:ph idx="1"/>
          </p:nvPr>
        </p:nvSpPr>
        <p:spPr>
          <a:xfrm>
            <a:off x="0" y="685800"/>
            <a:ext cx="9144000" cy="6172200"/>
          </a:xfrm>
        </p:spPr>
        <p:txBody>
          <a:bodyPr>
            <a:normAutofit fontScale="85000" lnSpcReduction="10000"/>
          </a:bodyPr>
          <a:lstStyle/>
          <a:p>
            <a:r>
              <a:rPr lang="en-GB" sz="2400" b="1" dirty="0" smtClean="0"/>
              <a:t>One-dimensional </a:t>
            </a:r>
            <a:r>
              <a:rPr lang="en-GB" sz="2400" b="1" dirty="0"/>
              <a:t>absolute </a:t>
            </a:r>
            <a:r>
              <a:rPr lang="en-GB" sz="2400" b="1" dirty="0" smtClean="0"/>
              <a:t>judgment:</a:t>
            </a:r>
          </a:p>
          <a:p>
            <a:pPr lvl="1"/>
            <a:r>
              <a:rPr lang="en-GB" sz="2400" dirty="0"/>
              <a:t>In a one-dimensional absolute-judgment task, a person is presented with a number of stimuli that vary on one dimension.</a:t>
            </a:r>
          </a:p>
          <a:p>
            <a:pPr lvl="1"/>
            <a:r>
              <a:rPr lang="en-GB" sz="2400" dirty="0"/>
              <a:t>Performance is nearly perfect up to five or six different stimuli but declines as the number of different stimuli is increased</a:t>
            </a:r>
            <a:r>
              <a:rPr lang="en-GB" sz="2400" dirty="0" smtClean="0"/>
              <a:t>.</a:t>
            </a:r>
          </a:p>
          <a:p>
            <a:pPr lvl="1"/>
            <a:r>
              <a:rPr lang="en-GB" sz="2400" dirty="0"/>
              <a:t>In a one-dimensional absolute-judgment task, a person is presented with a number of stimuli that vary on one dimension (e.g., 10 different tones varying only in pitch) and responds to each stimulus with a corresponding response (learned before). Performance is nearly perfect up to five or six different stimuli but declines as the number of different stimuli is increased. </a:t>
            </a:r>
          </a:p>
          <a:p>
            <a:pPr lvl="1"/>
            <a:r>
              <a:rPr lang="en-GB" sz="2400" dirty="0" smtClean="0"/>
              <a:t>The </a:t>
            </a:r>
            <a:r>
              <a:rPr lang="en-GB" sz="2400" dirty="0"/>
              <a:t>task can be described as one of information transmission: </a:t>
            </a:r>
            <a:endParaRPr lang="en-GB" sz="2400" dirty="0" smtClean="0"/>
          </a:p>
          <a:p>
            <a:pPr lvl="2"/>
            <a:r>
              <a:rPr lang="en-GB" sz="2000" dirty="0" smtClean="0"/>
              <a:t>The </a:t>
            </a:r>
            <a:r>
              <a:rPr lang="en-GB" sz="2000" dirty="0"/>
              <a:t>input consists of one out of </a:t>
            </a:r>
            <a:r>
              <a:rPr lang="en-GB" sz="2000" i="1" dirty="0"/>
              <a:t>n</a:t>
            </a:r>
            <a:r>
              <a:rPr lang="en-GB" sz="2000" dirty="0"/>
              <a:t> possible stimuli, and the output consists of one out of </a:t>
            </a:r>
            <a:r>
              <a:rPr lang="en-GB" sz="2000" i="1" dirty="0"/>
              <a:t>n</a:t>
            </a:r>
            <a:r>
              <a:rPr lang="en-GB" sz="2000" dirty="0"/>
              <a:t> responses. </a:t>
            </a:r>
            <a:endParaRPr lang="en-GB" sz="2000" dirty="0" smtClean="0"/>
          </a:p>
          <a:p>
            <a:pPr lvl="2"/>
            <a:r>
              <a:rPr lang="en-GB" sz="2000" dirty="0" smtClean="0"/>
              <a:t>The </a:t>
            </a:r>
            <a:r>
              <a:rPr lang="en-GB" sz="2000" dirty="0"/>
              <a:t>information contained in the input can be determined by the number of binary decisions that need to be made to arrive at the selected stimulus, and the same holds for the response. </a:t>
            </a:r>
            <a:endParaRPr lang="en-GB" sz="2000" dirty="0" smtClean="0"/>
          </a:p>
          <a:p>
            <a:pPr lvl="1"/>
            <a:r>
              <a:rPr lang="en-GB" sz="2400" dirty="0" smtClean="0"/>
              <a:t>Therefore</a:t>
            </a:r>
            <a:r>
              <a:rPr lang="en-GB" sz="2400" dirty="0"/>
              <a:t>, people's maximum performance on one-dimensional absolute judgement can be characterized as an information channel capacity with approximately 2 to 3 </a:t>
            </a:r>
            <a:r>
              <a:rPr lang="en-GB" sz="2400" dirty="0">
                <a:hlinkClick r:id="rId3" tooltip="Bit"/>
              </a:rPr>
              <a:t>bits</a:t>
            </a:r>
            <a:r>
              <a:rPr lang="en-GB" sz="2400" dirty="0"/>
              <a:t> of </a:t>
            </a:r>
            <a:r>
              <a:rPr lang="en-GB" sz="2400" dirty="0">
                <a:hlinkClick r:id="rId4" tooltip="Information"/>
              </a:rPr>
              <a:t>information</a:t>
            </a:r>
            <a:r>
              <a:rPr lang="en-GB" sz="2400" dirty="0"/>
              <a:t>, which corresponds to the ability to distinguish between four and eight alternatives.</a:t>
            </a:r>
            <a:endParaRPr lang="en-US" sz="2400" dirty="0"/>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0806841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a:latin typeface="+mn-lt"/>
              </a:rPr>
              <a:t>Miller’s </a:t>
            </a:r>
            <a:r>
              <a:rPr lang="en-GB" sz="2800" b="1" dirty="0" smtClean="0">
                <a:latin typeface="+mn-lt"/>
              </a:rPr>
              <a:t>Law- </a:t>
            </a:r>
            <a:r>
              <a:rPr lang="en-GB" sz="2800" i="1" dirty="0">
                <a:latin typeface="+mn-lt"/>
              </a:rPr>
              <a:t>People can only hold up to about 7 pieces of info in short-term memory.</a:t>
            </a:r>
            <a:br>
              <a:rPr lang="en-GB" sz="2800" i="1" dirty="0">
                <a:latin typeface="+mn-lt"/>
              </a:rPr>
            </a:br>
            <a:endParaRPr lang="en-GB" sz="2800" i="1" dirty="0">
              <a:latin typeface="+mn-lt"/>
            </a:endParaRPr>
          </a:p>
        </p:txBody>
      </p:sp>
      <p:sp>
        <p:nvSpPr>
          <p:cNvPr id="7" name="Content Placeholder 2"/>
          <p:cNvSpPr>
            <a:spLocks noGrp="1"/>
          </p:cNvSpPr>
          <p:nvPr>
            <p:ph idx="1"/>
          </p:nvPr>
        </p:nvSpPr>
        <p:spPr>
          <a:xfrm>
            <a:off x="0" y="914400"/>
            <a:ext cx="9144000" cy="5943600"/>
          </a:xfrm>
        </p:spPr>
        <p:txBody>
          <a:bodyPr>
            <a:normAutofit/>
          </a:bodyPr>
          <a:lstStyle/>
          <a:p>
            <a:r>
              <a:rPr lang="en-GB" sz="2000" b="1" dirty="0" smtClean="0"/>
              <a:t>Limits of Short term Memory:</a:t>
            </a:r>
          </a:p>
          <a:p>
            <a:pPr lvl="1"/>
            <a:r>
              <a:rPr lang="en-GB" sz="2000" dirty="0"/>
              <a:t>The second cognitive limitation Miller discusses is </a:t>
            </a:r>
            <a:r>
              <a:rPr lang="en-GB" sz="2000" dirty="0">
                <a:hlinkClick r:id="rId2" tooltip="Memory span"/>
              </a:rPr>
              <a:t>memory span</a:t>
            </a:r>
            <a:r>
              <a:rPr lang="en-GB" sz="2000" dirty="0"/>
              <a:t>. Memory span refers to the longest list of items (e.g., digits, letters, words) that a person can repeat back in correct order on 50% of trials immediately after presentation. </a:t>
            </a:r>
            <a:endParaRPr lang="en-GB" sz="2000" dirty="0" smtClean="0"/>
          </a:p>
          <a:p>
            <a:pPr lvl="1"/>
            <a:r>
              <a:rPr lang="en-GB" sz="2000" dirty="0" smtClean="0"/>
              <a:t>Miller </a:t>
            </a:r>
            <a:r>
              <a:rPr lang="en-GB" sz="2000" dirty="0"/>
              <a:t>observed that memory span of young adults is approximately seven items. </a:t>
            </a:r>
            <a:endParaRPr lang="en-GB" sz="2000" dirty="0" smtClean="0"/>
          </a:p>
          <a:p>
            <a:pPr lvl="1"/>
            <a:r>
              <a:rPr lang="en-GB" sz="2000" dirty="0" smtClean="0"/>
              <a:t>He </a:t>
            </a:r>
            <a:r>
              <a:rPr lang="en-GB" sz="2000" dirty="0"/>
              <a:t>noticed that memory span is approximately the same for stimuli with vastly different amount of information—for instance, binary digits have 1 bit each; decimal digits have 3.32 bits each; words have about 10 bits each. </a:t>
            </a:r>
            <a:endParaRPr lang="en-GB" sz="2000" dirty="0" smtClean="0"/>
          </a:p>
          <a:p>
            <a:pPr lvl="1"/>
            <a:r>
              <a:rPr lang="en-GB" sz="2000" dirty="0" smtClean="0"/>
              <a:t>Miller </a:t>
            </a:r>
            <a:r>
              <a:rPr lang="en-GB" sz="2000" dirty="0"/>
              <a:t>concluded that memory span is not limited in terms of bits but rather in terms of </a:t>
            </a:r>
            <a:r>
              <a:rPr lang="en-GB" sz="2000" dirty="0">
                <a:hlinkClick r:id="rId3" tooltip="Chunking (psychology)"/>
              </a:rPr>
              <a:t>chunks</a:t>
            </a:r>
            <a:r>
              <a:rPr lang="en-GB" sz="2000" dirty="0"/>
              <a:t>. </a:t>
            </a:r>
            <a:endParaRPr lang="en-GB" sz="2000" dirty="0" smtClean="0"/>
          </a:p>
          <a:p>
            <a:pPr lvl="1"/>
            <a:r>
              <a:rPr lang="en-GB" sz="2000" dirty="0" smtClean="0"/>
              <a:t>A </a:t>
            </a:r>
            <a:r>
              <a:rPr lang="en-GB" sz="2000" dirty="0"/>
              <a:t>chunk is the largest meaningful unit in the presented material that the person recognizes—thus, what counts as a chunk depends on the knowledge of the person being tested. </a:t>
            </a:r>
            <a:endParaRPr lang="en-GB" sz="2000" dirty="0" smtClean="0"/>
          </a:p>
          <a:p>
            <a:pPr lvl="1"/>
            <a:r>
              <a:rPr lang="en-GB" sz="2000" dirty="0" smtClean="0"/>
              <a:t>For </a:t>
            </a:r>
            <a:r>
              <a:rPr lang="en-GB" sz="2000" dirty="0"/>
              <a:t>instance, a word is a single chunk for a speaker of the language but is many chunks for someone who is totally unfamiliar with the language and sees the word as a collection of phonetic segments.</a:t>
            </a:r>
            <a:endParaRPr lang="en-US" sz="20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0382388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219200"/>
          </a:xfrm>
        </p:spPr>
        <p:txBody>
          <a:bodyPr>
            <a:noAutofit/>
          </a:bodyPr>
          <a:lstStyle/>
          <a:p>
            <a:r>
              <a:rPr lang="en-GB" sz="2800" b="1" dirty="0">
                <a:latin typeface="+mn-lt"/>
              </a:rPr>
              <a:t>Miller’s </a:t>
            </a:r>
            <a:r>
              <a:rPr lang="en-GB" sz="2800" b="1" dirty="0" smtClean="0">
                <a:latin typeface="+mn-lt"/>
              </a:rPr>
              <a:t>Law- </a:t>
            </a:r>
            <a:r>
              <a:rPr lang="en-GB" sz="2800" i="1" dirty="0">
                <a:latin typeface="+mn-lt"/>
              </a:rPr>
              <a:t>People can only hold up to about 7 pieces of info in short-term memory.</a:t>
            </a:r>
            <a:br>
              <a:rPr lang="en-GB" sz="2800" i="1" dirty="0">
                <a:latin typeface="+mn-lt"/>
              </a:rPr>
            </a:br>
            <a:endParaRPr lang="en-GB" sz="2800" i="1" dirty="0">
              <a:latin typeface="+mn-lt"/>
            </a:endParaRPr>
          </a:p>
        </p:txBody>
      </p:sp>
      <p:sp>
        <p:nvSpPr>
          <p:cNvPr id="7" name="Content Placeholder 2"/>
          <p:cNvSpPr>
            <a:spLocks noGrp="1"/>
          </p:cNvSpPr>
          <p:nvPr>
            <p:ph idx="1"/>
          </p:nvPr>
        </p:nvSpPr>
        <p:spPr>
          <a:xfrm>
            <a:off x="0" y="914400"/>
            <a:ext cx="9144000" cy="5943600"/>
          </a:xfrm>
        </p:spPr>
        <p:txBody>
          <a:bodyPr>
            <a:normAutofit/>
          </a:bodyPr>
          <a:lstStyle/>
          <a:p>
            <a:r>
              <a:rPr lang="en-GB" sz="2000" dirty="0"/>
              <a:t>Miller recognized that the correspondence between the limits of one-dimensional absolute judgment and of short-term memory span was only a coincidence, because only the first limit, not the second, can be characterized in information-theoretic terms (i.e., as a roughly constant number of bits). </a:t>
            </a:r>
            <a:endParaRPr lang="en-GB" sz="2000" dirty="0" smtClean="0"/>
          </a:p>
          <a:p>
            <a:r>
              <a:rPr lang="en-GB" sz="2000" dirty="0" smtClean="0"/>
              <a:t>Therefore</a:t>
            </a:r>
            <a:r>
              <a:rPr lang="en-GB" sz="2000" dirty="0"/>
              <a:t>, there is nothing "magical" about the number seven, and Miller used the expression only </a:t>
            </a:r>
            <a:r>
              <a:rPr lang="en-GB" sz="2000" dirty="0" smtClean="0"/>
              <a:t>linguistically. </a:t>
            </a:r>
          </a:p>
          <a:p>
            <a:r>
              <a:rPr lang="en-GB" sz="2000" dirty="0" smtClean="0"/>
              <a:t>Nevertheless</a:t>
            </a:r>
            <a:r>
              <a:rPr lang="en-GB" sz="2000" dirty="0"/>
              <a:t>, the idea of a "magical number 7" inspired much theorizing, rigorous and less rigorous, about the capacity limits of human cognition. </a:t>
            </a:r>
            <a:endParaRPr lang="en-GB" sz="2000" dirty="0" smtClean="0"/>
          </a:p>
          <a:p>
            <a:r>
              <a:rPr lang="en-GB" sz="2000" dirty="0" smtClean="0"/>
              <a:t>The </a:t>
            </a:r>
            <a:r>
              <a:rPr lang="en-GB" sz="2000" dirty="0"/>
              <a:t>number seven constitutes a useful heuristic, reminding us that lists that are much longer than that become significantly harder to remember and process simultaneously.</a:t>
            </a:r>
            <a:endParaRPr lang="en-US" sz="2400" dirty="0"/>
          </a:p>
          <a:p>
            <a:endParaRPr lang="en-US" sz="2400" dirty="0"/>
          </a:p>
          <a:p>
            <a:endParaRPr lang="en-US" sz="2400" dirty="0" smtClean="0"/>
          </a:p>
        </p:txBody>
      </p:sp>
    </p:spTree>
    <p:extLst>
      <p:ext uri="{BB962C8B-B14F-4D97-AF65-F5344CB8AC3E}">
        <p14:creationId xmlns:p14="http://schemas.microsoft.com/office/powerpoint/2010/main" val="30941323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TotalTime>
  <Words>713</Words>
  <Application>Microsoft Office PowerPoint</Application>
  <PresentationFormat>On-screen Show (4:3)</PresentationFormat>
  <Paragraphs>63</Paragraphs>
  <Slides>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Five HCI Laws for UX Design</vt:lpstr>
      <vt:lpstr>Fitts’s Law - Users will hit a target faster if it’s big and close to where they start.</vt:lpstr>
      <vt:lpstr>Power Law of Practice - Users do stuff faster the more they practice. </vt:lpstr>
      <vt:lpstr>Pareto principle</vt:lpstr>
      <vt:lpstr>Hick's law - Users will take longer to decide if you give me heaps of choices. </vt:lpstr>
      <vt:lpstr>Miller’s Law- People can only hold up to about 7 pieces of info in short-term memory. </vt:lpstr>
      <vt:lpstr>Miller’s Law- People can only hold up to about 7 pieces of info in short-term memory.</vt:lpstr>
      <vt:lpstr>Miller’s Law- People can only hold up to about 7 pieces of info in short-term memory. </vt:lpstr>
      <vt:lpstr>Miller’s Law- People can only hold up to about 7 pieces of info in short-term memory.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189</cp:revision>
  <dcterms:created xsi:type="dcterms:W3CDTF">2014-08-12T16:29:38Z</dcterms:created>
  <dcterms:modified xsi:type="dcterms:W3CDTF">2020-01-06T09:14:42Z</dcterms:modified>
</cp:coreProperties>
</file>