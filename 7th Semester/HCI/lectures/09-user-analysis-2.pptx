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1" r:id="rId4"/>
    <p:sldId id="262" r:id="rId5"/>
    <p:sldId id="263" r:id="rId6"/>
    <p:sldId id="264" r:id="rId7"/>
    <p:sldId id="265" r:id="rId8"/>
    <p:sldId id="267" r:id="rId9"/>
    <p:sldId id="266" r:id="rId10"/>
    <p:sldId id="268" r:id="rId11"/>
    <p:sldId id="269" r:id="rId12"/>
    <p:sldId id="270" r:id="rId13"/>
    <p:sldId id="271" r:id="rId14"/>
    <p:sldId id="272" r:id="rId15"/>
    <p:sldId id="273" r:id="rId16"/>
    <p:sldId id="274" r:id="rId17"/>
    <p:sldId id="275" r:id="rId18"/>
    <p:sldId id="276" r:id="rId19"/>
    <p:sldId id="259"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662" autoAdjust="0"/>
  </p:normalViewPr>
  <p:slideViewPr>
    <p:cSldViewPr>
      <p:cViewPr>
        <p:scale>
          <a:sx n="66" d="100"/>
          <a:sy n="66" d="100"/>
        </p:scale>
        <p:origin x="-1494" y="-180"/>
      </p:cViewPr>
      <p:guideLst>
        <p:guide orient="horz" pos="2160"/>
        <p:guide pos="2880"/>
      </p:guideLst>
    </p:cSldViewPr>
  </p:slideViewPr>
  <p:outlineViewPr>
    <p:cViewPr>
      <p:scale>
        <a:sx n="33" d="100"/>
        <a:sy n="33" d="100"/>
      </p:scale>
      <p:origin x="48" y="19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4/3/2017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4/3/2017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4/3/2017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4/3/2017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4/3/2017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4/3/2017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4/3/2017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4/3/2017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dubberly.com/articles/alan-cooper-and-the-goal-directed-design-process.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slideshare.net/HubSpot/6-steps-to-building-user-personas-and-why-you-should-care/21-Step_2_Be_creative_to"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slideshare.net/HubSpot/6-steps-to-building-user-personas-and-why-you-should-care/24-Step_3_Read_your_responses"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slideshare.net/HubSpot/6-steps-to-building-user-personas-and-why-you-should-care/25-Step_4_Fill_in_you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slideshare.net/HubSpot/6-steps-to-building-user-personas-and-why-you-should-care/26-Step_5_Conduct_a_few"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slideshare.net/HubSpot/6-steps-to-building-user-personas-and-why-you-should-care/27-Step_6_Place_each_user"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www.slideshare.net/HubSpot/6-steps-to-building-user-personas-and-why-you-should-care/28-Bonus_Take_note_of_extraneou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slideshare.net/HubSpot/6-steps-to-building-user-personas-and-why-you-should-care/29-Double_Bonus_Give_your_persona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smashingmagazine.com/2014/08/a-closer-look-at-personas-part-2/" TargetMode="External"/><Relationship Id="rId2" Type="http://schemas.openxmlformats.org/officeDocument/2006/relationships/hyperlink" Target="https://www.smashingmagazine.com/2014/08/a-closer-look-at-personas-part-1/" TargetMode="External"/><Relationship Id="rId1" Type="http://schemas.openxmlformats.org/officeDocument/2006/relationships/slideLayout" Target="../slideLayouts/slideLayout2.xml"/><Relationship Id="rId4" Type="http://schemas.openxmlformats.org/officeDocument/2006/relationships/hyperlink" Target="https://www.slideshare.net/HubSpot/6-steps-to-building-user-personas-and-why-you-should-ca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b="1" dirty="0"/>
              <a:t>What Is A Persona?</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A persona is a way to model, summarize and communicate research about people who have been observed or researched in some way. </a:t>
            </a:r>
            <a:endParaRPr lang="en-US" sz="2400" dirty="0" smtClean="0"/>
          </a:p>
          <a:p>
            <a:r>
              <a:rPr lang="en-US" sz="2400" dirty="0" smtClean="0"/>
              <a:t>A </a:t>
            </a:r>
            <a:r>
              <a:rPr lang="en-US" sz="2400" dirty="0"/>
              <a:t>persona is depicted as a specific person but is not a real individual; rather, it is synthesized from observations of many people. </a:t>
            </a:r>
            <a:endParaRPr lang="en-US" sz="2400" dirty="0" smtClean="0"/>
          </a:p>
          <a:p>
            <a:r>
              <a:rPr lang="en-US" sz="2400" dirty="0" smtClean="0"/>
              <a:t>Each </a:t>
            </a:r>
            <a:r>
              <a:rPr lang="en-US" sz="2400" dirty="0"/>
              <a:t>persona represents a significant portion of people in the real world and </a:t>
            </a:r>
            <a:r>
              <a:rPr lang="en-US" sz="2400" b="1" dirty="0"/>
              <a:t>enables the designer to focus on a manageable and memorable cast of characters</a:t>
            </a:r>
            <a:r>
              <a:rPr lang="en-US" sz="2400" dirty="0"/>
              <a:t>, instead of focusing on thousands of individuals. </a:t>
            </a:r>
            <a:endParaRPr lang="en-US" sz="2400" dirty="0" smtClean="0"/>
          </a:p>
          <a:p>
            <a:r>
              <a:rPr lang="en-US" sz="2400" dirty="0" smtClean="0"/>
              <a:t>Personas </a:t>
            </a:r>
            <a:r>
              <a:rPr lang="en-US" sz="2400" dirty="0"/>
              <a:t>aid designers to create different designs for different kinds of people and to design for a specific somebody, rather than a generic everybody.</a:t>
            </a:r>
            <a:endParaRPr lang="en-US" sz="2400" dirty="0" smtClean="0"/>
          </a:p>
          <a:p>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b="1" dirty="0"/>
              <a:t>What Does A Persona Look Like?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While a persona is usually presented as a one-pager document, it is more than just a deliverable — it is a way to communicate and summarize research trends and patterns to others. </a:t>
            </a:r>
            <a:endParaRPr lang="en-US" sz="2400" dirty="0" smtClean="0"/>
          </a:p>
          <a:p>
            <a:r>
              <a:rPr lang="en-US" sz="2400" dirty="0" smtClean="0"/>
              <a:t>This </a:t>
            </a:r>
            <a:r>
              <a:rPr lang="en-US" sz="2400" dirty="0"/>
              <a:t>fundamental understanding of users is what’s important, not the document itself.</a:t>
            </a:r>
          </a:p>
          <a:p>
            <a:endParaRPr lang="en-US" sz="2400" dirty="0"/>
          </a:p>
          <a:p>
            <a:endParaRPr lang="en-US" sz="2400" dirty="0" smtClean="0"/>
          </a:p>
        </p:txBody>
      </p:sp>
    </p:spTree>
    <p:extLst>
      <p:ext uri="{BB962C8B-B14F-4D97-AF65-F5344CB8AC3E}">
        <p14:creationId xmlns:p14="http://schemas.microsoft.com/office/powerpoint/2010/main" val="39313774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09600"/>
          </a:xfrm>
        </p:spPr>
        <p:txBody>
          <a:bodyPr>
            <a:normAutofit fontScale="90000"/>
          </a:bodyPr>
          <a:lstStyle/>
          <a:p>
            <a:pPr fontAlgn="base"/>
            <a:r>
              <a:rPr lang="en-US" sz="4000" b="1" dirty="0"/>
              <a:t>What Does A Persona Look Like? </a:t>
            </a:r>
            <a:r>
              <a:rPr lang="en-US" sz="4000" b="1" dirty="0" smtClean="0"/>
              <a:t>(Contd.)</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pic>
        <p:nvPicPr>
          <p:cNvPr id="1026" name="Picture 2" descr="C:\Users\gulraiz\Desktop\02-cook-op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410" y="609600"/>
            <a:ext cx="7898390" cy="624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8832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09600"/>
          </a:xfrm>
        </p:spPr>
        <p:txBody>
          <a:bodyPr>
            <a:normAutofit fontScale="90000"/>
          </a:bodyPr>
          <a:lstStyle/>
          <a:p>
            <a:pPr fontAlgn="base"/>
            <a:r>
              <a:rPr lang="en-US" sz="4000" b="1" dirty="0"/>
              <a:t>What Does A Persona Look Like? </a:t>
            </a:r>
            <a:r>
              <a:rPr lang="en-US" sz="4000" b="1" dirty="0" smtClean="0"/>
              <a:t>(Contd.)</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5105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smtClean="0"/>
          </a:p>
          <a:p>
            <a:r>
              <a:rPr lang="en-US" sz="2400" dirty="0"/>
              <a:t>The main elements presented here are the key goals and the “Day in the Life,” which are common to all well-made persona documents. </a:t>
            </a:r>
            <a:endParaRPr lang="en-US" sz="2400" dirty="0" smtClean="0"/>
          </a:p>
          <a:p>
            <a:r>
              <a:rPr lang="en-US" sz="2400" dirty="0" smtClean="0"/>
              <a:t>Other </a:t>
            </a:r>
            <a:r>
              <a:rPr lang="en-US" sz="2400" dirty="0"/>
              <a:t>elements, such as the “Quick Take on Fred” are included because of team and/or project requirements. </a:t>
            </a:r>
            <a:endParaRPr lang="en-US" sz="2400" dirty="0" smtClean="0"/>
          </a:p>
          <a:p>
            <a:r>
              <a:rPr lang="en-US" sz="2400" dirty="0" smtClean="0"/>
              <a:t>Each </a:t>
            </a:r>
            <a:r>
              <a:rPr lang="en-US" sz="2400" dirty="0"/>
              <a:t>project will dictate a certain approach to producing persona documents.</a:t>
            </a:r>
            <a:endParaRPr lang="en-US" sz="2400" dirty="0" smtClean="0"/>
          </a:p>
          <a:p>
            <a:endParaRPr lang="en-US" sz="2400" dirty="0" smtClean="0"/>
          </a:p>
        </p:txBody>
      </p:sp>
    </p:spTree>
    <p:extLst>
      <p:ext uri="{BB962C8B-B14F-4D97-AF65-F5344CB8AC3E}">
        <p14:creationId xmlns:p14="http://schemas.microsoft.com/office/powerpoint/2010/main" val="18282220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09600"/>
          </a:xfrm>
        </p:spPr>
        <p:txBody>
          <a:bodyPr>
            <a:normAutofit fontScale="90000"/>
          </a:bodyPr>
          <a:lstStyle/>
          <a:p>
            <a:pPr fontAlgn="base"/>
            <a:r>
              <a:rPr lang="en-US" sz="4000" b="1" dirty="0"/>
              <a:t>What Does A Persona Look Like? </a:t>
            </a:r>
            <a:r>
              <a:rPr lang="en-US" sz="4000" b="1" dirty="0" smtClean="0"/>
              <a:t>(Contd.)</a:t>
            </a: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5105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smtClean="0"/>
          </a:p>
          <a:p>
            <a:r>
              <a:rPr lang="en-US" sz="2400" dirty="0"/>
              <a:t>Personas are an essential part of goal-directed design. Each group of users researched is represented by a persona, which in turn is represented by a document. Several personas are not uncommon in a typical project</a:t>
            </a:r>
            <a:endParaRPr lang="en-US" sz="2400" dirty="0" smtClean="0"/>
          </a:p>
        </p:txBody>
      </p:sp>
    </p:spTree>
    <p:extLst>
      <p:ext uri="{BB962C8B-B14F-4D97-AF65-F5344CB8AC3E}">
        <p14:creationId xmlns:p14="http://schemas.microsoft.com/office/powerpoint/2010/main" val="35912896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09600"/>
          </a:xfrm>
        </p:spPr>
        <p:txBody>
          <a:bodyPr>
            <a:normAutofit fontScale="90000"/>
          </a:bodyPr>
          <a:lstStyle/>
          <a:p>
            <a:pPr fontAlgn="base"/>
            <a:r>
              <a:rPr lang="en-US" sz="3600" b="1" dirty="0"/>
              <a:t>How Do Personas Fit In The Design Process?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51054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smtClean="0"/>
          </a:p>
          <a:p>
            <a:r>
              <a:rPr lang="en-US" sz="2400" dirty="0"/>
              <a:t>Since its humble origin, Alan Cooper’s design methodology has evolved into a subset of user-centered design, which he has branded </a:t>
            </a:r>
            <a:r>
              <a:rPr lang="en-US" sz="2400" dirty="0">
                <a:hlinkClick r:id="rId2"/>
              </a:rPr>
              <a:t>goal-directed design</a:t>
            </a:r>
            <a:r>
              <a:rPr lang="en-US" sz="2400" dirty="0"/>
              <a:t>. </a:t>
            </a:r>
            <a:endParaRPr lang="en-US" sz="2400" dirty="0" smtClean="0"/>
          </a:p>
          <a:p>
            <a:r>
              <a:rPr lang="en-US" sz="2400" dirty="0"/>
              <a:t>Personas are a core component of goal-directed design</a:t>
            </a:r>
            <a:r>
              <a:rPr lang="en-US" sz="2400" dirty="0" smtClean="0"/>
              <a:t>.</a:t>
            </a:r>
          </a:p>
          <a:p>
            <a:r>
              <a:rPr lang="en-US" sz="2400" dirty="0" smtClean="0"/>
              <a:t>Personas are </a:t>
            </a:r>
            <a:r>
              <a:rPr lang="en-US" sz="2400" dirty="0"/>
              <a:t>never used in isolation, but rather are implemented in conjunction with other processes, concepts and methods that support and augment their use</a:t>
            </a:r>
            <a:r>
              <a:rPr lang="en-US" sz="2400" dirty="0" smtClean="0"/>
              <a:t>.</a:t>
            </a:r>
          </a:p>
          <a:p>
            <a:endParaRPr lang="en-US" sz="2400" dirty="0" smtClean="0"/>
          </a:p>
        </p:txBody>
      </p:sp>
    </p:spTree>
    <p:extLst>
      <p:ext uri="{BB962C8B-B14F-4D97-AF65-F5344CB8AC3E}">
        <p14:creationId xmlns:p14="http://schemas.microsoft.com/office/powerpoint/2010/main" val="4223088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990600"/>
          </a:xfrm>
        </p:spPr>
        <p:txBody>
          <a:bodyPr>
            <a:normAutofit fontScale="90000"/>
          </a:bodyPr>
          <a:lstStyle/>
          <a:p>
            <a:pPr fontAlgn="base"/>
            <a:r>
              <a:rPr lang="en-US" sz="3200" b="1" cap="all" dirty="0"/>
              <a:t>COMPONENTS OF GOAL-DIRECTED DESIGN THAT SUPPORT PERSONAS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1066800"/>
            <a:ext cx="8534400" cy="5791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smtClean="0"/>
          </a:p>
          <a:p>
            <a:pPr fontAlgn="base"/>
            <a:r>
              <a:rPr lang="en-US" sz="2400" b="1" dirty="0"/>
              <a:t>End goal(s</a:t>
            </a:r>
            <a:r>
              <a:rPr lang="en-US" sz="2400" b="1" dirty="0" smtClean="0"/>
              <a:t>)</a:t>
            </a:r>
          </a:p>
          <a:p>
            <a:pPr lvl="1" fontAlgn="base"/>
            <a:r>
              <a:rPr lang="en-US" sz="2400" dirty="0" smtClean="0"/>
              <a:t>This </a:t>
            </a:r>
            <a:r>
              <a:rPr lang="en-US" sz="2400" dirty="0"/>
              <a:t>is an objective that a persona wants or needs to fulfill by using software. </a:t>
            </a:r>
            <a:endParaRPr lang="en-US" sz="2400" dirty="0" smtClean="0"/>
          </a:p>
          <a:p>
            <a:pPr lvl="1" fontAlgn="base"/>
            <a:r>
              <a:rPr lang="en-US" sz="2400" dirty="0" smtClean="0"/>
              <a:t>The </a:t>
            </a:r>
            <a:r>
              <a:rPr lang="en-US" sz="2400" dirty="0"/>
              <a:t>software would aid the persona to accomplish their end goal(s) by enabling them to accomplish their tasks via certain features.</a:t>
            </a:r>
          </a:p>
          <a:p>
            <a:pPr fontAlgn="base"/>
            <a:r>
              <a:rPr lang="en-US" sz="2400" b="1" dirty="0"/>
              <a:t>Scenario(s</a:t>
            </a:r>
            <a:r>
              <a:rPr lang="en-US" sz="2400" b="1" dirty="0" smtClean="0"/>
              <a:t>)</a:t>
            </a:r>
          </a:p>
          <a:p>
            <a:pPr lvl="1" fontAlgn="base"/>
            <a:r>
              <a:rPr lang="en-US" sz="2400" dirty="0" smtClean="0"/>
              <a:t>This </a:t>
            </a:r>
            <a:r>
              <a:rPr lang="en-US" sz="2400" dirty="0"/>
              <a:t>is a narrative that describes how a persona would interact with software in a particular context to achieve their end goal(s</a:t>
            </a:r>
            <a:r>
              <a:rPr lang="en-US" sz="2400" dirty="0" smtClean="0"/>
              <a:t>).</a:t>
            </a:r>
          </a:p>
          <a:p>
            <a:pPr lvl="1" fontAlgn="base"/>
            <a:r>
              <a:rPr lang="en-US" sz="2400" dirty="0" smtClean="0"/>
              <a:t> </a:t>
            </a:r>
            <a:r>
              <a:rPr lang="en-US" sz="2400" dirty="0"/>
              <a:t>Scenarios are written from the persona’s perspective, at a high level, and </a:t>
            </a:r>
            <a:r>
              <a:rPr lang="en-US" sz="2400" dirty="0" smtClean="0"/>
              <a:t>clear use </a:t>
            </a:r>
            <a:r>
              <a:rPr lang="en-US" sz="2400" dirty="0"/>
              <a:t>cases that will likely happen in the future</a:t>
            </a:r>
            <a:r>
              <a:rPr lang="en-US" sz="2400" dirty="0" smtClean="0"/>
              <a:t>.</a:t>
            </a:r>
          </a:p>
          <a:p>
            <a:endParaRPr lang="en-US" sz="2400" dirty="0" smtClean="0"/>
          </a:p>
        </p:txBody>
      </p:sp>
    </p:spTree>
    <p:extLst>
      <p:ext uri="{BB962C8B-B14F-4D97-AF65-F5344CB8AC3E}">
        <p14:creationId xmlns:p14="http://schemas.microsoft.com/office/powerpoint/2010/main" val="31769537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990600"/>
          </a:xfrm>
        </p:spPr>
        <p:txBody>
          <a:bodyPr>
            <a:normAutofit fontScale="90000"/>
          </a:bodyPr>
          <a:lstStyle/>
          <a:p>
            <a:pPr fontAlgn="base"/>
            <a:r>
              <a:rPr lang="en-US" sz="3200" b="1" cap="all" dirty="0"/>
              <a:t>COMPONENTS OF GOAL-DIRECTED DESIGN THAT SUPPORT </a:t>
            </a:r>
            <a:r>
              <a:rPr lang="en-US" sz="3200" b="1" cap="all" dirty="0" smtClean="0"/>
              <a:t>PERSONAS (Contd.)</a:t>
            </a:r>
            <a:r>
              <a:rPr lang="en-US" sz="3200" b="1" cap="all" dirty="0"/>
              <a:t>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1066800"/>
            <a:ext cx="8534400" cy="5791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400" dirty="0" smtClean="0"/>
          </a:p>
          <a:p>
            <a:r>
              <a:rPr lang="en-US" sz="2400" b="1" dirty="0"/>
              <a:t>Personas, end goals and scenarios relate to one another</a:t>
            </a:r>
            <a:r>
              <a:rPr lang="en-US" sz="2400" dirty="0"/>
              <a:t> in the same way that the main character in a novel or movie goes on a journey to accomplish an objective. </a:t>
            </a:r>
            <a:endParaRPr lang="en-US" sz="2400" dirty="0" smtClean="0"/>
          </a:p>
        </p:txBody>
      </p:sp>
    </p:spTree>
    <p:extLst>
      <p:ext uri="{BB962C8B-B14F-4D97-AF65-F5344CB8AC3E}">
        <p14:creationId xmlns:p14="http://schemas.microsoft.com/office/powerpoint/2010/main" val="34556353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2400" b="1" cap="all" dirty="0"/>
              <a:t>COMPONENTS OF GOAL-DIRECTED DESIGN THAT SUPPORT PERSONAS </a:t>
            </a:r>
            <a:r>
              <a:rPr lang="en-US" sz="2400" b="1" cap="all" dirty="0" smtClean="0"/>
              <a:t>(Contd.)</a:t>
            </a:r>
            <a:endParaRPr lang="en-US" sz="2400" b="1" cap="all"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5562600"/>
            <a:ext cx="8534400" cy="12954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i="1" dirty="0" smtClean="0"/>
              <a:t>The </a:t>
            </a:r>
            <a:r>
              <a:rPr lang="en-US" sz="2000" i="1" dirty="0"/>
              <a:t>three parts of goal-directed design are most effective when used together. For instance, in order for a sprinter to reach their potential, they need a place to run and a finish line to cross. Without a scenario or end goal, the sprinter would have nothing to do or strive for.</a:t>
            </a:r>
            <a:endParaRPr lang="en-US" sz="2000" dirty="0" smtClean="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762000"/>
            <a:ext cx="6400800" cy="4864608"/>
          </a:xfrm>
          <a:prstGeom prst="rect">
            <a:avLst/>
          </a:prstGeom>
        </p:spPr>
      </p:pic>
    </p:spTree>
    <p:extLst>
      <p:ext uri="{BB962C8B-B14F-4D97-AF65-F5344CB8AC3E}">
        <p14:creationId xmlns:p14="http://schemas.microsoft.com/office/powerpoint/2010/main" val="12334008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3200" b="1" dirty="0"/>
              <a:t>How Are Personas Created?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base"/>
            <a:r>
              <a:rPr lang="en-US" sz="2400" dirty="0"/>
              <a:t>Personas can be created in a myriad of ways, but designers are recommended to follow this general formula:</a:t>
            </a:r>
          </a:p>
          <a:p>
            <a:pPr lvl="1" fontAlgn="base"/>
            <a:r>
              <a:rPr lang="en-US" sz="2400" dirty="0"/>
              <a:t>Interview and/or observe an adequate number of people.</a:t>
            </a:r>
          </a:p>
          <a:p>
            <a:pPr lvl="1" fontAlgn="base"/>
            <a:r>
              <a:rPr lang="en-US" sz="2400" dirty="0"/>
              <a:t>Find patterns in the interviewees’ responses and actions, and use those to group similar people together.</a:t>
            </a:r>
          </a:p>
          <a:p>
            <a:pPr lvl="1" fontAlgn="base"/>
            <a:r>
              <a:rPr lang="en-US" sz="2400" dirty="0"/>
              <a:t>Create </a:t>
            </a:r>
            <a:r>
              <a:rPr lang="en-US" sz="2400" dirty="0" smtClean="0"/>
              <a:t>typical </a:t>
            </a:r>
            <a:r>
              <a:rPr lang="en-US" sz="2400" dirty="0"/>
              <a:t>models of those groups, based on the patterns found.</a:t>
            </a:r>
          </a:p>
          <a:p>
            <a:pPr lvl="1" fontAlgn="base"/>
            <a:r>
              <a:rPr lang="en-US" sz="2400" dirty="0"/>
              <a:t>Drawing from that understanding of users and the model of that understanding, create user-centered designs.</a:t>
            </a:r>
          </a:p>
          <a:p>
            <a:pPr lvl="1" fontAlgn="base"/>
            <a:r>
              <a:rPr lang="en-US" sz="2400" dirty="0"/>
              <a:t>Share those models with other team members and stakeholders.</a:t>
            </a:r>
          </a:p>
          <a:p>
            <a:pPr marL="0" indent="0">
              <a:buNone/>
            </a:pPr>
            <a:endParaRPr lang="en-US" sz="2800" dirty="0" smtClean="0"/>
          </a:p>
        </p:txBody>
      </p:sp>
    </p:spTree>
    <p:extLst>
      <p:ext uri="{BB962C8B-B14F-4D97-AF65-F5344CB8AC3E}">
        <p14:creationId xmlns:p14="http://schemas.microsoft.com/office/powerpoint/2010/main" val="346378431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3200" b="1" dirty="0"/>
              <a:t>How Are Personas Created</a:t>
            </a:r>
            <a:r>
              <a:rPr lang="en-US" sz="3200" b="1" dirty="0" smtClean="0"/>
              <a:t>? (Contd.)</a:t>
            </a:r>
            <a:r>
              <a:rPr lang="en-US" sz="3200" b="1" dirty="0"/>
              <a:t>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fontAlgn="base"/>
            <a:r>
              <a:rPr lang="en-US" sz="2400" b="1" dirty="0"/>
              <a:t>Step 1: Pick a representative </a:t>
            </a:r>
            <a:r>
              <a:rPr lang="en-US" sz="2400" b="1" dirty="0" smtClean="0"/>
              <a:t>unit </a:t>
            </a:r>
            <a:r>
              <a:rPr lang="en-US" sz="2400" b="1" dirty="0"/>
              <a:t>of users. </a:t>
            </a:r>
            <a:endParaRPr lang="en-US" sz="2400" b="1" dirty="0" smtClean="0"/>
          </a:p>
          <a:p>
            <a:pPr lvl="1" fontAlgn="base"/>
            <a:r>
              <a:rPr lang="en-US" sz="2400" dirty="0" smtClean="0"/>
              <a:t>Depending </a:t>
            </a:r>
            <a:r>
              <a:rPr lang="en-US" sz="2400" dirty="0"/>
              <a:t>on how many users you have to represent using your personas, decide how many interviews you need to conduct or how many survey responses you need to get to be conﬁdent in your conclusions.</a:t>
            </a:r>
            <a:endParaRPr lang="en-US" dirty="0" smtClean="0"/>
          </a:p>
        </p:txBody>
      </p:sp>
    </p:spTree>
    <p:extLst>
      <p:ext uri="{BB962C8B-B14F-4D97-AF65-F5344CB8AC3E}">
        <p14:creationId xmlns:p14="http://schemas.microsoft.com/office/powerpoint/2010/main" val="32386766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3200" b="1" dirty="0"/>
              <a:t>How Are Personas Created</a:t>
            </a:r>
            <a:r>
              <a:rPr lang="en-US" sz="3200" b="1" dirty="0" smtClean="0"/>
              <a:t>? (Contd.)</a:t>
            </a:r>
            <a:r>
              <a:rPr lang="en-US" sz="3200" b="1" dirty="0"/>
              <a:t>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hlinkClick r:id="rId2" tooltip="Step 2: Be creative to"/>
              </a:rPr>
              <a:t>Step 2: Be creative to</a:t>
            </a:r>
            <a:r>
              <a:rPr lang="en-US" sz="2400" dirty="0">
                <a:hlinkClick r:id="rId2" tooltip="Step 2: Be creative to"/>
              </a:rPr>
              <a:t> </a:t>
            </a:r>
            <a:r>
              <a:rPr lang="en-US" sz="2400" dirty="0"/>
              <a:t>get as many data points as you possibly can…or as necessary. </a:t>
            </a:r>
            <a:endParaRPr lang="en-US" sz="2400" dirty="0" smtClean="0"/>
          </a:p>
          <a:p>
            <a:r>
              <a:rPr lang="en-US" sz="2400" dirty="0" smtClean="0"/>
              <a:t>There </a:t>
            </a:r>
            <a:r>
              <a:rPr lang="en-US" sz="2400" dirty="0"/>
              <a:t>are many ways to do this. “This” being, getting open-ended responses to your questions. </a:t>
            </a:r>
            <a:endParaRPr lang="en-US" sz="2400" dirty="0" smtClean="0"/>
          </a:p>
          <a:p>
            <a:r>
              <a:rPr lang="en-US" sz="2400" dirty="0" smtClean="0"/>
              <a:t>Utilize </a:t>
            </a:r>
            <a:r>
              <a:rPr lang="en-US" sz="2400" dirty="0"/>
              <a:t>surveys, virtual/in-person discussion groups, even reverse Q&amp;A sessions. Be creative and do what makes sense for your users.</a:t>
            </a:r>
          </a:p>
        </p:txBody>
      </p:sp>
    </p:spTree>
    <p:extLst>
      <p:ext uri="{BB962C8B-B14F-4D97-AF65-F5344CB8AC3E}">
        <p14:creationId xmlns:p14="http://schemas.microsoft.com/office/powerpoint/2010/main" val="13242501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3200" b="1" dirty="0"/>
              <a:t>How Are Personas Created</a:t>
            </a:r>
            <a:r>
              <a:rPr lang="en-US" sz="3200" b="1" dirty="0" smtClean="0"/>
              <a:t>? (Contd.)</a:t>
            </a:r>
            <a:r>
              <a:rPr lang="en-US" sz="3200" b="1" dirty="0"/>
              <a:t>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hlinkClick r:id="rId2" tooltip="Step 3: Read your responses"/>
              </a:rPr>
              <a:t>Step 3: Read your responses</a:t>
            </a:r>
            <a:r>
              <a:rPr lang="en-US" sz="2400" dirty="0">
                <a:hlinkClick r:id="rId2" tooltip="Step 3: Read your responses"/>
              </a:rPr>
              <a:t> </a:t>
            </a:r>
            <a:r>
              <a:rPr lang="en-US" sz="2400" dirty="0"/>
              <a:t>and put together a ﬁrst pass at your personas. </a:t>
            </a:r>
            <a:endParaRPr lang="en-US" sz="2400" dirty="0" smtClean="0"/>
          </a:p>
          <a:p>
            <a:r>
              <a:rPr lang="en-US" sz="2400" dirty="0" smtClean="0"/>
              <a:t>Find </a:t>
            </a:r>
            <a:r>
              <a:rPr lang="en-US" sz="2400" dirty="0"/>
              <a:t>a quiet spot and start reading through your responses. Jot down common words and phrases as you go to be used later for grouping. </a:t>
            </a:r>
            <a:endParaRPr lang="en-US" sz="2400" dirty="0" smtClean="0"/>
          </a:p>
          <a:p>
            <a:r>
              <a:rPr lang="en-US" sz="2400" dirty="0" smtClean="0"/>
              <a:t>Once </a:t>
            </a:r>
            <a:r>
              <a:rPr lang="en-US" sz="2400" dirty="0"/>
              <a:t>you’ve completed this activity, go back and begin grouping respondents based on the commonalities between them.</a:t>
            </a:r>
          </a:p>
        </p:txBody>
      </p:sp>
    </p:spTree>
    <p:extLst>
      <p:ext uri="{BB962C8B-B14F-4D97-AF65-F5344CB8AC3E}">
        <p14:creationId xmlns:p14="http://schemas.microsoft.com/office/powerpoint/2010/main" val="7035083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3200" b="1" dirty="0"/>
              <a:t>How Are Personas Created</a:t>
            </a:r>
            <a:r>
              <a:rPr lang="en-US" sz="3200" b="1" dirty="0" smtClean="0"/>
              <a:t>? (Contd.)</a:t>
            </a:r>
            <a:r>
              <a:rPr lang="en-US" sz="3200" b="1" dirty="0"/>
              <a:t>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hlinkClick r:id="rId2" tooltip="Step 4: Fill in your"/>
              </a:rPr>
              <a:t>Step 4: Fill in your</a:t>
            </a:r>
            <a:r>
              <a:rPr lang="en-US" sz="2400" dirty="0">
                <a:hlinkClick r:id="rId2" tooltip="Step 4: Fill in your"/>
              </a:rPr>
              <a:t> </a:t>
            </a:r>
            <a:r>
              <a:rPr lang="en-US" sz="2400" dirty="0"/>
              <a:t>template. Using your groupings from Step 3, ﬁll in your categories </a:t>
            </a:r>
            <a:r>
              <a:rPr lang="en-US" sz="2400" dirty="0" smtClean="0"/>
              <a:t>by </a:t>
            </a:r>
            <a:r>
              <a:rPr lang="en-US" sz="2400" dirty="0"/>
              <a:t>formulating the group responses into one single, uniﬁed response. </a:t>
            </a:r>
            <a:endParaRPr lang="en-US" sz="2400" dirty="0" smtClean="0"/>
          </a:p>
          <a:p>
            <a:r>
              <a:rPr lang="en-US" sz="2400" dirty="0" smtClean="0"/>
              <a:t>You </a:t>
            </a:r>
            <a:r>
              <a:rPr lang="en-US" sz="2400" dirty="0"/>
              <a:t>should be able to conﬁdently convey what their main challenges, needs, goals, and such are based on the group’s responses. </a:t>
            </a:r>
            <a:endParaRPr lang="en-US" sz="2400" dirty="0" smtClean="0"/>
          </a:p>
          <a:p>
            <a:r>
              <a:rPr lang="en-US" sz="2400" dirty="0" smtClean="0"/>
              <a:t>You </a:t>
            </a:r>
            <a:r>
              <a:rPr lang="en-US" sz="2400" dirty="0"/>
              <a:t>probably have multiple groupings which means you’ll have multiple personas. </a:t>
            </a:r>
            <a:endParaRPr lang="en-US" sz="2400" dirty="0" smtClean="0"/>
          </a:p>
          <a:p>
            <a:r>
              <a:rPr lang="en-US" sz="2400" dirty="0" smtClean="0"/>
              <a:t>Try </a:t>
            </a:r>
            <a:r>
              <a:rPr lang="en-US" sz="2400" dirty="0"/>
              <a:t>to keep your count between 3 and 6 in total. This will be version 1 of your personas!</a:t>
            </a:r>
          </a:p>
        </p:txBody>
      </p:sp>
    </p:spTree>
    <p:extLst>
      <p:ext uri="{BB962C8B-B14F-4D97-AF65-F5344CB8AC3E}">
        <p14:creationId xmlns:p14="http://schemas.microsoft.com/office/powerpoint/2010/main" val="36279164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3200" b="1" dirty="0"/>
              <a:t>How Are Personas Created</a:t>
            </a:r>
            <a:r>
              <a:rPr lang="en-US" sz="3200" b="1" dirty="0" smtClean="0"/>
              <a:t>? (Contd.)</a:t>
            </a:r>
            <a:r>
              <a:rPr lang="en-US" sz="3200" b="1" dirty="0"/>
              <a:t>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hlinkClick r:id="rId2" tooltip="Step 5: Conduct a few"/>
              </a:rPr>
              <a:t>Step 5: Conduct a few</a:t>
            </a:r>
            <a:r>
              <a:rPr lang="en-US" sz="2400" dirty="0">
                <a:hlinkClick r:id="rId2" tooltip="Step 5: Conduct a few"/>
              </a:rPr>
              <a:t> </a:t>
            </a:r>
            <a:r>
              <a:rPr lang="en-US" sz="2400" dirty="0"/>
              <a:t>1-on-1 user interviews. </a:t>
            </a:r>
            <a:endParaRPr lang="en-US" sz="2400" dirty="0" smtClean="0"/>
          </a:p>
          <a:p>
            <a:r>
              <a:rPr lang="en-US" sz="2400" dirty="0" smtClean="0"/>
              <a:t>Now </a:t>
            </a:r>
            <a:r>
              <a:rPr lang="en-US" sz="2400" dirty="0"/>
              <a:t>that you have your version 1, you’ll want to make sure that your conclusions are valid and hold true for a random (but relevant) user. </a:t>
            </a:r>
            <a:endParaRPr lang="en-US" sz="2400" dirty="0" smtClean="0"/>
          </a:p>
          <a:p>
            <a:r>
              <a:rPr lang="en-US" sz="2400" dirty="0" smtClean="0"/>
              <a:t>Pick </a:t>
            </a:r>
            <a:r>
              <a:rPr lang="en-US" sz="2400" dirty="0"/>
              <a:t>one user that matches one persona who hasn’t already been surveyed. Interview them individually. </a:t>
            </a:r>
            <a:endParaRPr lang="en-US" sz="2400" dirty="0" smtClean="0"/>
          </a:p>
          <a:p>
            <a:r>
              <a:rPr lang="en-US" sz="2400" dirty="0" smtClean="0"/>
              <a:t>Not </a:t>
            </a:r>
            <a:r>
              <a:rPr lang="en-US" sz="2400" dirty="0"/>
              <a:t>everything has to be spot on but their answers should be relatively similar to your conclusions</a:t>
            </a:r>
            <a:r>
              <a:rPr lang="en-US" sz="2400" dirty="0" smtClean="0"/>
              <a:t>.</a:t>
            </a:r>
          </a:p>
          <a:p>
            <a:r>
              <a:rPr lang="en-US" sz="2400" dirty="0" smtClean="0"/>
              <a:t> </a:t>
            </a:r>
            <a:r>
              <a:rPr lang="en-US" sz="2400" dirty="0"/>
              <a:t>If not, reevaluate your original conclusions and try again. Do this for each persona.</a:t>
            </a:r>
          </a:p>
        </p:txBody>
      </p:sp>
    </p:spTree>
    <p:extLst>
      <p:ext uri="{BB962C8B-B14F-4D97-AF65-F5344CB8AC3E}">
        <p14:creationId xmlns:p14="http://schemas.microsoft.com/office/powerpoint/2010/main" val="28094756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3200" b="1" dirty="0"/>
              <a:t>How Are Personas Created</a:t>
            </a:r>
            <a:r>
              <a:rPr lang="en-US" sz="3200" b="1" dirty="0" smtClean="0"/>
              <a:t>? (Contd.)</a:t>
            </a:r>
            <a:r>
              <a:rPr lang="en-US" sz="3200" b="1" dirty="0"/>
              <a:t>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a:hlinkClick r:id="rId2" tooltip="Step 6: Place each user"/>
              </a:rPr>
              <a:t>Step 6: Place each user</a:t>
            </a:r>
            <a:r>
              <a:rPr lang="en-US" sz="2400" dirty="0">
                <a:hlinkClick r:id="rId2" tooltip="Step 6: Place each user"/>
              </a:rPr>
              <a:t> </a:t>
            </a:r>
            <a:r>
              <a:rPr lang="en-US" sz="2400" dirty="0"/>
              <a:t>into a persona. Your users (or customers), minus the </a:t>
            </a:r>
            <a:r>
              <a:rPr lang="en-US" sz="2400" dirty="0" smtClean="0"/>
              <a:t>unimportant </a:t>
            </a:r>
            <a:r>
              <a:rPr lang="en-US" sz="2400" dirty="0"/>
              <a:t>ones, should all fall under one of your personas. </a:t>
            </a:r>
            <a:endParaRPr lang="en-US" sz="2400" dirty="0" smtClean="0"/>
          </a:p>
          <a:p>
            <a:r>
              <a:rPr lang="en-US" sz="2400" dirty="0" smtClean="0"/>
              <a:t>Now </a:t>
            </a:r>
            <a:r>
              <a:rPr lang="en-US" sz="2400" dirty="0"/>
              <a:t>is the time to separate your users based on your persona criteria. </a:t>
            </a:r>
            <a:endParaRPr lang="en-US" sz="2400" dirty="0" smtClean="0"/>
          </a:p>
          <a:p>
            <a:r>
              <a:rPr lang="en-US" sz="2400" dirty="0" smtClean="0"/>
              <a:t>There </a:t>
            </a:r>
            <a:r>
              <a:rPr lang="en-US" sz="2400" dirty="0"/>
              <a:t>probably won’t be matches for all of them but there should be clear diﬀerentiators and indicators that guide your sorting.</a:t>
            </a:r>
          </a:p>
        </p:txBody>
      </p:sp>
    </p:spTree>
    <p:extLst>
      <p:ext uri="{BB962C8B-B14F-4D97-AF65-F5344CB8AC3E}">
        <p14:creationId xmlns:p14="http://schemas.microsoft.com/office/powerpoint/2010/main" val="24647671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3200" b="1" dirty="0"/>
              <a:t>How Are Personas Created</a:t>
            </a:r>
            <a:r>
              <a:rPr lang="en-US" sz="3200" b="1" dirty="0" smtClean="0"/>
              <a:t>? (Contd.)</a:t>
            </a:r>
            <a:r>
              <a:rPr lang="en-US" sz="3200" b="1" dirty="0"/>
              <a:t>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smtClean="0">
                <a:hlinkClick r:id="rId2" tooltip="Bonus: Take note of extraneous"/>
              </a:rPr>
              <a:t>Step 7 Bonus</a:t>
            </a:r>
            <a:r>
              <a:rPr lang="en-US" sz="2400" b="1" dirty="0">
                <a:hlinkClick r:id="rId2" tooltip="Bonus: Take note of extraneous"/>
              </a:rPr>
              <a:t>: Take note of </a:t>
            </a:r>
            <a:r>
              <a:rPr lang="en-US" sz="2400" b="1" dirty="0" smtClean="0">
                <a:hlinkClick r:id="rId2" tooltip="Bonus: Take note of extraneous"/>
              </a:rPr>
              <a:t>unimportant</a:t>
            </a:r>
            <a:r>
              <a:rPr lang="en-US" sz="2400" dirty="0">
                <a:hlinkClick r:id="rId2" tooltip="Bonus: Take note of extraneous"/>
              </a:rPr>
              <a:t> </a:t>
            </a:r>
            <a:r>
              <a:rPr lang="en-US" sz="2400" dirty="0"/>
              <a:t>users. </a:t>
            </a:r>
            <a:endParaRPr lang="en-US" sz="2400" dirty="0" smtClean="0"/>
          </a:p>
          <a:p>
            <a:r>
              <a:rPr lang="en-US" sz="2400" dirty="0" smtClean="0"/>
              <a:t>Not </a:t>
            </a:r>
            <a:r>
              <a:rPr lang="en-US" sz="2400" dirty="0"/>
              <a:t>all users will fall under a persona. That’s ok. </a:t>
            </a:r>
            <a:endParaRPr lang="en-US" sz="2400" dirty="0" smtClean="0"/>
          </a:p>
          <a:p>
            <a:r>
              <a:rPr lang="en-US" sz="2400" dirty="0" smtClean="0"/>
              <a:t>But </a:t>
            </a:r>
            <a:r>
              <a:rPr lang="en-US" sz="2400" dirty="0"/>
              <a:t>if you start to see a lot of them as you sort, reevaluate your personas. </a:t>
            </a:r>
            <a:endParaRPr lang="en-US" sz="2400" dirty="0" smtClean="0"/>
          </a:p>
          <a:p>
            <a:r>
              <a:rPr lang="en-US" sz="2400" dirty="0" smtClean="0"/>
              <a:t>Otherwise</a:t>
            </a:r>
            <a:r>
              <a:rPr lang="en-US" sz="2400" dirty="0"/>
              <a:t>, these are just naturally </a:t>
            </a:r>
            <a:r>
              <a:rPr lang="en-US" sz="2400" dirty="0" smtClean="0"/>
              <a:t>unimportant </a:t>
            </a:r>
            <a:r>
              <a:rPr lang="en-US" sz="2400" dirty="0"/>
              <a:t>people. </a:t>
            </a:r>
            <a:endParaRPr lang="en-US" sz="2400" dirty="0" smtClean="0"/>
          </a:p>
        </p:txBody>
      </p:sp>
    </p:spTree>
    <p:extLst>
      <p:ext uri="{BB962C8B-B14F-4D97-AF65-F5344CB8AC3E}">
        <p14:creationId xmlns:p14="http://schemas.microsoft.com/office/powerpoint/2010/main" val="3714495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76200"/>
            <a:ext cx="9144000" cy="685800"/>
          </a:xfrm>
        </p:spPr>
        <p:txBody>
          <a:bodyPr>
            <a:noAutofit/>
          </a:bodyPr>
          <a:lstStyle/>
          <a:p>
            <a:pPr fontAlgn="base"/>
            <a:r>
              <a:rPr lang="en-US" sz="3200" b="1" dirty="0"/>
              <a:t>How Are Personas Created</a:t>
            </a:r>
            <a:r>
              <a:rPr lang="en-US" sz="3200" b="1" dirty="0" smtClean="0"/>
              <a:t>? (Contd.)</a:t>
            </a:r>
            <a:r>
              <a:rPr lang="en-US" sz="3200" b="1" dirty="0"/>
              <a:t> </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marL="0" indent="0">
              <a:buNone/>
            </a:pPr>
            <a:endParaRPr lang="en-US" sz="2400" dirty="0" smtClean="0"/>
          </a:p>
        </p:txBody>
      </p:sp>
      <p:sp>
        <p:nvSpPr>
          <p:cNvPr id="5" name="Content Placeholder 2"/>
          <p:cNvSpPr txBox="1">
            <a:spLocks/>
          </p:cNvSpPr>
          <p:nvPr/>
        </p:nvSpPr>
        <p:spPr>
          <a:xfrm>
            <a:off x="304800" y="762000"/>
            <a:ext cx="8534400" cy="4648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b="1" dirty="0" smtClean="0">
                <a:hlinkClick r:id="rId2" tooltip="Double Bonus: Give your personas"/>
              </a:rPr>
              <a:t>Step 8 Double </a:t>
            </a:r>
            <a:r>
              <a:rPr lang="en-US" sz="2400" b="1" dirty="0">
                <a:hlinkClick r:id="rId2" tooltip="Double Bonus: Give your personas"/>
              </a:rPr>
              <a:t>Bonus: Give your personas</a:t>
            </a:r>
            <a:r>
              <a:rPr lang="en-US" sz="2400" dirty="0">
                <a:hlinkClick r:id="rId2" tooltip="Double Bonus: Give your personas"/>
              </a:rPr>
              <a:t> </a:t>
            </a:r>
            <a:r>
              <a:rPr lang="en-US" sz="2400" dirty="0"/>
              <a:t>a name. </a:t>
            </a:r>
            <a:endParaRPr lang="en-US" sz="2400" dirty="0" smtClean="0"/>
          </a:p>
          <a:p>
            <a:r>
              <a:rPr lang="en-US" sz="2400" dirty="0" smtClean="0"/>
              <a:t>Many </a:t>
            </a:r>
            <a:r>
              <a:rPr lang="en-US" sz="2400" dirty="0"/>
              <a:t>personas have names attached to them, such as Marketer Mary</a:t>
            </a:r>
            <a:r>
              <a:rPr lang="en-US" sz="2400" dirty="0" smtClean="0"/>
              <a:t>.</a:t>
            </a:r>
          </a:p>
          <a:p>
            <a:r>
              <a:rPr lang="en-US" sz="2400" dirty="0" smtClean="0"/>
              <a:t> </a:t>
            </a:r>
            <a:r>
              <a:rPr lang="en-US" sz="2400" dirty="0"/>
              <a:t>You don’t have to assign names to yours but it makes it easier to communicate about them internally instead of saying, “Persona 3”.</a:t>
            </a:r>
          </a:p>
        </p:txBody>
      </p:sp>
    </p:spTree>
    <p:extLst>
      <p:ext uri="{BB962C8B-B14F-4D97-AF65-F5344CB8AC3E}">
        <p14:creationId xmlns:p14="http://schemas.microsoft.com/office/powerpoint/2010/main" val="36888617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r>
              <a:rPr lang="en-US" sz="4000" dirty="0" smtClean="0"/>
              <a:t>References</a:t>
            </a: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hlinkClick r:id="rId2"/>
              </a:rPr>
              <a:t>https://www.smashingmagazine.com/2014/08/a-closer-look-at-personas-part-1</a:t>
            </a:r>
            <a:r>
              <a:rPr lang="en-US" sz="2400" dirty="0" smtClean="0">
                <a:hlinkClick r:id="rId2"/>
              </a:rPr>
              <a:t>/</a:t>
            </a:r>
            <a:endParaRPr lang="en-US" sz="2400" dirty="0" smtClean="0"/>
          </a:p>
          <a:p>
            <a:r>
              <a:rPr lang="en-US" sz="2400" dirty="0">
                <a:hlinkClick r:id="rId3"/>
              </a:rPr>
              <a:t>https://www.smashingmagazine.com/2014/08/a-closer-look-at-personas-part-2</a:t>
            </a:r>
            <a:r>
              <a:rPr lang="en-US" sz="2400" dirty="0" smtClean="0">
                <a:hlinkClick r:id="rId3"/>
              </a:rPr>
              <a:t>/</a:t>
            </a:r>
            <a:r>
              <a:rPr lang="en-US" sz="2400" dirty="0" smtClean="0"/>
              <a:t> </a:t>
            </a:r>
            <a:endParaRPr lang="en-US" sz="2400" dirty="0" smtClean="0"/>
          </a:p>
          <a:p>
            <a:r>
              <a:rPr lang="en-US" sz="2400" dirty="0">
                <a:hlinkClick r:id="rId4"/>
              </a:rPr>
              <a:t>https://</a:t>
            </a:r>
            <a:r>
              <a:rPr lang="en-US" sz="2400" dirty="0" smtClean="0">
                <a:hlinkClick r:id="rId4"/>
              </a:rPr>
              <a:t>www.slideshare.net/HubSpot/6-steps-to-building-user-personas-and-why-you-should-care</a:t>
            </a:r>
            <a:r>
              <a:rPr lang="en-US" sz="2400" dirty="0" smtClean="0"/>
              <a:t> </a:t>
            </a:r>
            <a:endParaRPr lang="en-US" sz="2400" dirty="0"/>
          </a:p>
          <a:p>
            <a:endParaRPr lang="en-US" sz="2400" dirty="0"/>
          </a:p>
          <a:p>
            <a:endParaRPr lang="en-US" sz="2400" dirty="0"/>
          </a:p>
          <a:p>
            <a:endParaRPr lang="en-US" sz="2400" dirty="0"/>
          </a:p>
          <a:p>
            <a:endParaRPr lang="en-US" sz="2400" dirty="0" smtClean="0"/>
          </a:p>
        </p:txBody>
      </p:sp>
    </p:spTree>
    <p:extLst>
      <p:ext uri="{BB962C8B-B14F-4D97-AF65-F5344CB8AC3E}">
        <p14:creationId xmlns:p14="http://schemas.microsoft.com/office/powerpoint/2010/main" val="41306521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670</TotalTime>
  <Words>718</Words>
  <Application>Microsoft Office PowerPoint</Application>
  <PresentationFormat>On-screen Show (4:3)</PresentationFormat>
  <Paragraphs>88</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What Is A Persona?</vt:lpstr>
      <vt:lpstr>What Does A Persona Look Like? </vt:lpstr>
      <vt:lpstr>What Does A Persona Look Like? (Contd.)</vt:lpstr>
      <vt:lpstr>What Does A Persona Look Like? (Contd.)</vt:lpstr>
      <vt:lpstr>What Does A Persona Look Like? (Contd.)</vt:lpstr>
      <vt:lpstr>How Do Personas Fit In The Design Process? </vt:lpstr>
      <vt:lpstr>COMPONENTS OF GOAL-DIRECTED DESIGN THAT SUPPORT PERSONAS </vt:lpstr>
      <vt:lpstr>COMPONENTS OF GOAL-DIRECTED DESIGN THAT SUPPORT PERSONAS (Contd.) </vt:lpstr>
      <vt:lpstr>COMPONENTS OF GOAL-DIRECTED DESIGN THAT SUPPORT PERSONAS (Contd.)</vt:lpstr>
      <vt:lpstr>How Are Personas Created? </vt:lpstr>
      <vt:lpstr>How Are Personas Created? (Contd.) </vt:lpstr>
      <vt:lpstr>How Are Personas Created? (Contd.) </vt:lpstr>
      <vt:lpstr>How Are Personas Created? (Contd.) </vt:lpstr>
      <vt:lpstr>How Are Personas Created? (Contd.) </vt:lpstr>
      <vt:lpstr>How Are Personas Created? (Contd.) </vt:lpstr>
      <vt:lpstr>How Are Personas Created? (Contd.) </vt:lpstr>
      <vt:lpstr>How Are Personas Created? (Contd.) </vt:lpstr>
      <vt:lpstr>How Are Personas Created? (Contd.) </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gulraiz</cp:lastModifiedBy>
  <cp:revision>206</cp:revision>
  <dcterms:created xsi:type="dcterms:W3CDTF">2014-08-12T16:29:38Z</dcterms:created>
  <dcterms:modified xsi:type="dcterms:W3CDTF">2017-04-03T08:54:35Z</dcterms:modified>
</cp:coreProperties>
</file>