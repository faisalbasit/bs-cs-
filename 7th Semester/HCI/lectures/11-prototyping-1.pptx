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73" r:id="rId3"/>
    <p:sldId id="276" r:id="rId4"/>
    <p:sldId id="277" r:id="rId5"/>
    <p:sldId id="278" r:id="rId6"/>
    <p:sldId id="274" r:id="rId7"/>
    <p:sldId id="280" r:id="rId8"/>
    <p:sldId id="281" r:id="rId9"/>
    <p:sldId id="282" r:id="rId10"/>
    <p:sldId id="283" r:id="rId11"/>
    <p:sldId id="285" r:id="rId12"/>
    <p:sldId id="284" r:id="rId13"/>
    <p:sldId id="279" r:id="rId14"/>
    <p:sldId id="286" r:id="rId15"/>
    <p:sldId id="287"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4662" autoAdjust="0"/>
  </p:normalViewPr>
  <p:slideViewPr>
    <p:cSldViewPr>
      <p:cViewPr>
        <p:scale>
          <a:sx n="66" d="100"/>
          <a:sy n="66" d="100"/>
        </p:scale>
        <p:origin x="-1494" y="-180"/>
      </p:cViewPr>
      <p:guideLst>
        <p:guide orient="horz" pos="2160"/>
        <p:guide pos="2880"/>
      </p:guideLst>
    </p:cSldViewPr>
  </p:slideViewPr>
  <p:outlineViewPr>
    <p:cViewPr>
      <p:scale>
        <a:sx n="33" d="100"/>
        <a:sy n="33" d="100"/>
      </p:scale>
      <p:origin x="48" y="192"/>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4669785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7225507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9E78462-CCA5-4CFA-A196-17550FE0A9E1}" type="datetimeFigureOut">
              <a:rPr lang="en-US" smtClean="0"/>
              <a:t>4/24/2017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29572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9E78462-CCA5-4CFA-A196-17550FE0A9E1}" type="datetimeFigureOut">
              <a:rPr lang="en-US" smtClean="0"/>
              <a:t>4/24/2017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859152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9E78462-CCA5-4CFA-A196-17550FE0A9E1}" type="datetimeFigureOut">
              <a:rPr lang="en-US" smtClean="0"/>
              <a:t>4/24/2017</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0950850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9E78462-CCA5-4CFA-A196-17550FE0A9E1}" type="datetimeFigureOut">
              <a:rPr lang="en-US" smtClean="0"/>
              <a:t>4/24/2017</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3455310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E78462-CCA5-4CFA-A196-17550FE0A9E1}" type="datetimeFigureOut">
              <a:rPr lang="en-US" smtClean="0"/>
              <a:t>4/24/2017</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643368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4/24/2017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1002106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9E78462-CCA5-4CFA-A196-17550FE0A9E1}" type="datetimeFigureOut">
              <a:rPr lang="en-US" smtClean="0"/>
              <a:t>4/24/2017</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42834486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21209799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9E78462-CCA5-4CFA-A196-17550FE0A9E1}" type="datetimeFigureOut">
              <a:rPr lang="en-US" smtClean="0"/>
              <a:t>4/24/2017</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43F0035-4B67-4B88-B2A0-536AE2AEED21}" type="slidenum">
              <a:rPr lang="en-US" smtClean="0"/>
              <a:t>‹#›</a:t>
            </a:fld>
            <a:endParaRPr lang="en-US"/>
          </a:p>
        </p:txBody>
      </p:sp>
    </p:spTree>
    <p:extLst>
      <p:ext uri="{BB962C8B-B14F-4D97-AF65-F5344CB8AC3E}">
        <p14:creationId xmlns:p14="http://schemas.microsoft.com/office/powerpoint/2010/main" val="19385642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E78462-CCA5-4CFA-A196-17550FE0A9E1}" type="datetimeFigureOut">
              <a:rPr lang="en-US" smtClean="0"/>
              <a:t>4/24/2017</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3F0035-4B67-4B88-B2A0-536AE2AEED21}" type="slidenum">
              <a:rPr lang="en-US" smtClean="0"/>
              <a:t>‹#›</a:t>
            </a:fld>
            <a:endParaRPr lang="en-US"/>
          </a:p>
        </p:txBody>
      </p:sp>
    </p:spTree>
    <p:extLst>
      <p:ext uri="{BB962C8B-B14F-4D97-AF65-F5344CB8AC3E}">
        <p14:creationId xmlns:p14="http://schemas.microsoft.com/office/powerpoint/2010/main" val="1255663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www.useit.com/alertbox/20030414.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en.wikipedia.org/wiki/Website" TargetMode="External"/><Relationship Id="rId2" Type="http://schemas.openxmlformats.org/officeDocument/2006/relationships/hyperlink" Target="http://en.wikipedia.org/wiki/Visual_guide"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en.wikipedia.org/wiki/Website" TargetMode="External"/><Relationship Id="rId2" Type="http://schemas.openxmlformats.org/officeDocument/2006/relationships/hyperlink" Target="http://en.wikipedia.org/wiki/Visual_guide"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www.bcs.org/upload/pdf/ewic_hc07_lppaper18.pdf" TargetMode="External"/><Relationship Id="rId2" Type="http://schemas.openxmlformats.org/officeDocument/2006/relationships/hyperlink" Target="http://www.uxmatters.com/mt/archives/2010/02/hierarchical-task-analysis.ph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762000"/>
          </a:xfrm>
        </p:spPr>
        <p:txBody>
          <a:bodyPr>
            <a:normAutofit/>
          </a:bodyPr>
          <a:lstStyle/>
          <a:p>
            <a:pPr fontAlgn="base"/>
            <a:r>
              <a:rPr lang="en-US" sz="4000" b="1" dirty="0"/>
              <a:t>Prototyping</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r>
              <a:rPr lang="en-US" sz="2400" dirty="0"/>
              <a:t>A prototype is a draft version of a product that allows you to explore your ideas and show the intention behind a feature or the overall design concept to users before investing time and money into development. </a:t>
            </a:r>
            <a:endParaRPr lang="en-US" sz="2400" dirty="0" smtClean="0"/>
          </a:p>
          <a:p>
            <a:r>
              <a:rPr lang="en-US" sz="2400" dirty="0" smtClean="0"/>
              <a:t>A </a:t>
            </a:r>
            <a:r>
              <a:rPr lang="en-US" sz="2400" dirty="0"/>
              <a:t>prototype can be anything from paper drawings (low-fidelity) to something that allows click-through of a few pieces of content to a fully functioning site (high-fidelity). </a:t>
            </a:r>
          </a:p>
          <a:p>
            <a:endParaRPr lang="en-US" sz="2400" dirty="0" smtClean="0"/>
          </a:p>
        </p:txBody>
      </p:sp>
    </p:spTree>
    <p:extLst>
      <p:ext uri="{BB962C8B-B14F-4D97-AF65-F5344CB8AC3E}">
        <p14:creationId xmlns:p14="http://schemas.microsoft.com/office/powerpoint/2010/main" val="418808528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381000"/>
            <a:ext cx="9144000" cy="838200"/>
          </a:xfrm>
        </p:spPr>
        <p:txBody>
          <a:bodyPr>
            <a:normAutofit fontScale="90000"/>
          </a:bodyPr>
          <a:lstStyle/>
          <a:p>
            <a:pPr fontAlgn="base"/>
            <a:r>
              <a:rPr lang="en-US" sz="4000" b="1" dirty="0" smtClean="0"/>
              <a:t>Benefits </a:t>
            </a:r>
            <a:r>
              <a:rPr lang="en-US" sz="4000" b="1" dirty="0"/>
              <a:t>of Prototypes</a:t>
            </a:r>
            <a:br>
              <a:rPr lang="en-US" sz="4000" b="1" dirty="0"/>
            </a:br>
            <a:endParaRPr lang="en-US" sz="4000"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dirty="0"/>
              <a:t>It is much cheaper to change a product early in the development process than to make change after you develop the site. Therefore, you should consider building prototypes early in the process. </a:t>
            </a:r>
            <a:endParaRPr lang="en-US" sz="2400" dirty="0" smtClean="0"/>
          </a:p>
          <a:p>
            <a:pPr fontAlgn="base"/>
            <a:r>
              <a:rPr lang="en-US" sz="2400" dirty="0" smtClean="0"/>
              <a:t>Prototyping </a:t>
            </a:r>
            <a:r>
              <a:rPr lang="en-US" sz="2400" dirty="0"/>
              <a:t>allow you to gather feedback from users while you are still planning and designing your Web site.</a:t>
            </a:r>
          </a:p>
          <a:p>
            <a:pPr fontAlgn="base"/>
            <a:r>
              <a:rPr lang="en-US" sz="2400" u="sng" dirty="0">
                <a:hlinkClick r:id="rId2"/>
              </a:rPr>
              <a:t>Nielsen</a:t>
            </a:r>
            <a:r>
              <a:rPr lang="en-US" sz="2400" dirty="0"/>
              <a:t>  has found that the biggest improvements in user experience come from gathering usability data as early as possible</a:t>
            </a:r>
            <a:r>
              <a:rPr lang="en-US" sz="2400" dirty="0" smtClean="0"/>
              <a:t>.</a:t>
            </a:r>
          </a:p>
          <a:p>
            <a:pPr fontAlgn="base"/>
            <a:r>
              <a:rPr lang="en-US" sz="2400" dirty="0" smtClean="0"/>
              <a:t>He </a:t>
            </a:r>
            <a:r>
              <a:rPr lang="en-US" sz="2400" dirty="0"/>
              <a:t>notes that it’s cheaper to make changes before any code has been written than to wait until after the implementation is complete.</a:t>
            </a:r>
          </a:p>
          <a:p>
            <a:endParaRPr lang="en-US" sz="2400" dirty="0" smtClean="0"/>
          </a:p>
        </p:txBody>
      </p:sp>
    </p:spTree>
    <p:extLst>
      <p:ext uri="{BB962C8B-B14F-4D97-AF65-F5344CB8AC3E}">
        <p14:creationId xmlns:p14="http://schemas.microsoft.com/office/powerpoint/2010/main" val="22113294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381000"/>
            <a:ext cx="9144000" cy="838200"/>
          </a:xfrm>
        </p:spPr>
        <p:txBody>
          <a:bodyPr>
            <a:normAutofit/>
          </a:bodyPr>
          <a:lstStyle/>
          <a:p>
            <a:pPr fontAlgn="base"/>
            <a:r>
              <a:rPr lang="en-US" sz="3600" b="1" dirty="0"/>
              <a:t>High-Fidelity and Low-Fidelity Prototyping</a:t>
            </a:r>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fontAlgn="base"/>
            <a:r>
              <a:rPr lang="en-US" sz="2400" dirty="0"/>
              <a:t>There is an on-going debate about using low versus high fidelity prototyping and how much a prototype should resemble the final version of your design.  </a:t>
            </a:r>
            <a:endParaRPr lang="en-US" sz="2400" dirty="0" smtClean="0"/>
          </a:p>
          <a:p>
            <a:pPr fontAlgn="base"/>
            <a:r>
              <a:rPr lang="en-US" sz="2400" dirty="0" smtClean="0"/>
              <a:t>Both </a:t>
            </a:r>
            <a:r>
              <a:rPr lang="en-US" sz="2400" dirty="0"/>
              <a:t>have been found to be basically equivalent in finding usability issues (Walker et al 2002).  With that said, there are things to consider when trying to decide which option is best for your project</a:t>
            </a:r>
            <a:r>
              <a:rPr lang="en-US" sz="2400" dirty="0" smtClean="0"/>
              <a:t>:</a:t>
            </a:r>
            <a:endParaRPr lang="en-US" sz="2400" dirty="0"/>
          </a:p>
        </p:txBody>
      </p:sp>
    </p:spTree>
    <p:extLst>
      <p:ext uri="{BB962C8B-B14F-4D97-AF65-F5344CB8AC3E}">
        <p14:creationId xmlns:p14="http://schemas.microsoft.com/office/powerpoint/2010/main" val="401129307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381000"/>
            <a:ext cx="9144000" cy="838200"/>
          </a:xfrm>
        </p:spPr>
        <p:txBody>
          <a:bodyPr>
            <a:normAutofit fontScale="90000"/>
          </a:bodyPr>
          <a:lstStyle/>
          <a:p>
            <a:pPr fontAlgn="base"/>
            <a:r>
              <a:rPr lang="en-US" sz="3600" b="1" dirty="0"/>
              <a:t>High-Fidelity and Low-Fidelity </a:t>
            </a:r>
            <a:r>
              <a:rPr lang="en-US" sz="3600" b="1" dirty="0" smtClean="0"/>
              <a:t>Prototyping (Contd.)</a:t>
            </a:r>
            <a:endParaRPr lang="en-US" sz="3600"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lvl="1" fontAlgn="base"/>
            <a:r>
              <a:rPr lang="en-US" sz="2400" b="1" dirty="0" smtClean="0"/>
              <a:t>Low-fidelity </a:t>
            </a:r>
            <a:r>
              <a:rPr lang="en-US" sz="2400" b="1" dirty="0"/>
              <a:t>prototypes</a:t>
            </a:r>
            <a:r>
              <a:rPr lang="en-US" sz="2400" dirty="0"/>
              <a:t> are often paper-based and do not allow user interactions.  </a:t>
            </a:r>
            <a:endParaRPr lang="en-US" sz="2400" dirty="0" smtClean="0"/>
          </a:p>
          <a:p>
            <a:pPr lvl="1" fontAlgn="base"/>
            <a:r>
              <a:rPr lang="en-US" sz="2400" dirty="0" smtClean="0"/>
              <a:t>They </a:t>
            </a:r>
            <a:r>
              <a:rPr lang="en-US" sz="2400" dirty="0"/>
              <a:t>range from a series of hand-drawn mock-ups to printouts.  </a:t>
            </a:r>
            <a:endParaRPr lang="en-US" sz="2400" dirty="0" smtClean="0"/>
          </a:p>
          <a:p>
            <a:pPr lvl="1" fontAlgn="base"/>
            <a:r>
              <a:rPr lang="en-US" sz="2400" dirty="0" smtClean="0"/>
              <a:t>In </a:t>
            </a:r>
            <a:r>
              <a:rPr lang="en-US" sz="2400" dirty="0"/>
              <a:t>theory, low-fidelity sketches are quicker to create. </a:t>
            </a:r>
            <a:endParaRPr lang="en-US" sz="2400" dirty="0" smtClean="0"/>
          </a:p>
          <a:p>
            <a:pPr lvl="1" fontAlgn="base"/>
            <a:r>
              <a:rPr lang="en-US" sz="2400" dirty="0" smtClean="0"/>
              <a:t>Low-fidelity </a:t>
            </a:r>
            <a:r>
              <a:rPr lang="en-US" sz="2400" dirty="0"/>
              <a:t>prototypes are helpful in enabling early visualization of alternative design solutions, which helps provoke innovation and improvement. </a:t>
            </a:r>
            <a:endParaRPr lang="en-US" sz="2400" dirty="0" smtClean="0"/>
          </a:p>
          <a:p>
            <a:pPr lvl="1" fontAlgn="base"/>
            <a:r>
              <a:rPr lang="en-US" sz="2400" dirty="0" smtClean="0"/>
              <a:t>An </a:t>
            </a:r>
            <a:r>
              <a:rPr lang="en-US" sz="2400" dirty="0"/>
              <a:t>additional advantage to this approach is that when using rough sketches, users may feel more comfortable suggesting changes</a:t>
            </a:r>
            <a:r>
              <a:rPr lang="en-US" sz="2200" dirty="0" smtClean="0"/>
              <a:t>.</a:t>
            </a:r>
            <a:endParaRPr lang="en-US" sz="2200" dirty="0"/>
          </a:p>
        </p:txBody>
      </p:sp>
    </p:spTree>
    <p:extLst>
      <p:ext uri="{BB962C8B-B14F-4D97-AF65-F5344CB8AC3E}">
        <p14:creationId xmlns:p14="http://schemas.microsoft.com/office/powerpoint/2010/main" val="371336989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381000"/>
            <a:ext cx="9144000" cy="838200"/>
          </a:xfrm>
        </p:spPr>
        <p:txBody>
          <a:bodyPr>
            <a:normAutofit fontScale="90000"/>
          </a:bodyPr>
          <a:lstStyle/>
          <a:p>
            <a:pPr fontAlgn="base"/>
            <a:r>
              <a:rPr lang="en-US" sz="3600" b="1" dirty="0"/>
              <a:t>High-Fidelity and Low-Fidelity </a:t>
            </a:r>
            <a:r>
              <a:rPr lang="en-US" sz="3600" b="1" dirty="0" smtClean="0"/>
              <a:t>Prototyping (Contd.)</a:t>
            </a:r>
            <a:endParaRPr lang="en-US" sz="3600" b="1" dirty="0"/>
          </a:p>
        </p:txBody>
      </p:sp>
      <p:sp>
        <p:nvSpPr>
          <p:cNvPr id="7" name="Content Placeholder 2"/>
          <p:cNvSpPr>
            <a:spLocks noGrp="1"/>
          </p:cNvSpPr>
          <p:nvPr>
            <p:ph idx="1"/>
          </p:nvPr>
        </p:nvSpPr>
        <p:spPr>
          <a:xfrm>
            <a:off x="0" y="685800"/>
            <a:ext cx="9144000" cy="6172200"/>
          </a:xfrm>
        </p:spPr>
        <p:txBody>
          <a:bodyPr>
            <a:normAutofit/>
          </a:bodyPr>
          <a:lstStyle/>
          <a:p>
            <a:endParaRPr lang="en-US" sz="2400" dirty="0"/>
          </a:p>
          <a:p>
            <a:pPr lvl="1" fontAlgn="base"/>
            <a:r>
              <a:rPr lang="en-US" sz="2400" b="1" dirty="0" smtClean="0"/>
              <a:t>High-fidelity </a:t>
            </a:r>
            <a:r>
              <a:rPr lang="en-US" sz="2400" b="1" dirty="0"/>
              <a:t>prototypes</a:t>
            </a:r>
            <a:r>
              <a:rPr lang="en-US" sz="2400" dirty="0"/>
              <a:t> are computer-based, and usually allow realistic (mouse-keyboard) user interactions</a:t>
            </a:r>
            <a:r>
              <a:rPr lang="en-US" sz="2400" dirty="0" smtClean="0"/>
              <a:t>.</a:t>
            </a:r>
          </a:p>
          <a:p>
            <a:pPr lvl="1" fontAlgn="base"/>
            <a:r>
              <a:rPr lang="en-US" sz="2400" dirty="0" smtClean="0"/>
              <a:t> </a:t>
            </a:r>
            <a:r>
              <a:rPr lang="en-US" sz="2400" dirty="0"/>
              <a:t>High-fidelity prototypes take you as close as possible to a true representation of the user interface. </a:t>
            </a:r>
            <a:endParaRPr lang="en-US" sz="2400" dirty="0" smtClean="0"/>
          </a:p>
          <a:p>
            <a:pPr lvl="1" fontAlgn="base"/>
            <a:r>
              <a:rPr lang="en-US" sz="2400" dirty="0" smtClean="0"/>
              <a:t>High-fidelity </a:t>
            </a:r>
            <a:r>
              <a:rPr lang="en-US" sz="2400" dirty="0"/>
              <a:t>prototypes are assumed to be much more effective in collecting true human performance data (e.g., time to complete a task), and in demonstrating actual products to clients, management, and others.</a:t>
            </a:r>
          </a:p>
        </p:txBody>
      </p:sp>
    </p:spTree>
    <p:extLst>
      <p:ext uri="{BB962C8B-B14F-4D97-AF65-F5344CB8AC3E}">
        <p14:creationId xmlns:p14="http://schemas.microsoft.com/office/powerpoint/2010/main" val="16033034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381000"/>
            <a:ext cx="9144000" cy="838200"/>
          </a:xfrm>
        </p:spPr>
        <p:txBody>
          <a:bodyPr>
            <a:noAutofit/>
          </a:bodyPr>
          <a:lstStyle/>
          <a:p>
            <a:pPr fontAlgn="base"/>
            <a:r>
              <a:rPr lang="en-US" sz="2800" b="1" dirty="0"/>
              <a:t>The Difference between </a:t>
            </a:r>
            <a:r>
              <a:rPr lang="en-US" sz="2800" b="1" dirty="0" smtClean="0"/>
              <a:t>a </a:t>
            </a:r>
            <a:r>
              <a:rPr lang="en-US" sz="2800" b="1" dirty="0"/>
              <a:t>sketch, a wireframe, and a prototype</a:t>
            </a:r>
          </a:p>
        </p:txBody>
      </p:sp>
      <p:sp>
        <p:nvSpPr>
          <p:cNvPr id="7" name="Content Placeholder 2"/>
          <p:cNvSpPr>
            <a:spLocks noGrp="1"/>
          </p:cNvSpPr>
          <p:nvPr>
            <p:ph idx="1"/>
          </p:nvPr>
        </p:nvSpPr>
        <p:spPr>
          <a:xfrm>
            <a:off x="0" y="685800"/>
            <a:ext cx="9144000" cy="4876800"/>
          </a:xfrm>
        </p:spPr>
        <p:txBody>
          <a:bodyPr>
            <a:normAutofit/>
          </a:bodyPr>
          <a:lstStyle/>
          <a:p>
            <a:endParaRPr lang="en-US" sz="2400" b="1" dirty="0"/>
          </a:p>
          <a:p>
            <a:pPr fontAlgn="base"/>
            <a:r>
              <a:rPr lang="en-US" sz="2400" dirty="0"/>
              <a:t>There are differences between a sketch, a wireframe, and a prototype, but how can we understand the distinctions and the best use of each? </a:t>
            </a:r>
            <a:endParaRPr lang="en-US" sz="2400" dirty="0" smtClean="0"/>
          </a:p>
          <a:p>
            <a:pPr fontAlgn="base"/>
            <a:r>
              <a:rPr lang="en-US" sz="2400" dirty="0" smtClean="0"/>
              <a:t>And </a:t>
            </a:r>
            <a:r>
              <a:rPr lang="en-US" sz="2400" dirty="0"/>
              <a:t>what is their value as communication vehicles? </a:t>
            </a:r>
            <a:endParaRPr lang="en-US" sz="2400" dirty="0" smtClean="0"/>
          </a:p>
          <a:p>
            <a:pPr fontAlgn="base"/>
            <a:r>
              <a:rPr lang="en-US" sz="2400" dirty="0" smtClean="0"/>
              <a:t>Let’s </a:t>
            </a:r>
            <a:r>
              <a:rPr lang="en-US" sz="2400" dirty="0"/>
              <a:t>discuss what separates a sketch from a wireframes from a prototype.</a:t>
            </a:r>
            <a:endParaRPr lang="en-US" sz="2400" dirty="0" smtClean="0"/>
          </a:p>
        </p:txBody>
      </p:sp>
    </p:spTree>
    <p:extLst>
      <p:ext uri="{BB962C8B-B14F-4D97-AF65-F5344CB8AC3E}">
        <p14:creationId xmlns:p14="http://schemas.microsoft.com/office/powerpoint/2010/main" val="35118108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Autofit/>
          </a:bodyPr>
          <a:lstStyle/>
          <a:p>
            <a:pPr fontAlgn="base"/>
            <a:r>
              <a:rPr lang="en-US" sz="2800" b="1" dirty="0"/>
              <a:t>The Difference between </a:t>
            </a:r>
            <a:r>
              <a:rPr lang="en-US" sz="2800" b="1" dirty="0" smtClean="0"/>
              <a:t>a </a:t>
            </a:r>
            <a:r>
              <a:rPr lang="en-US" sz="2800" b="1" dirty="0"/>
              <a:t>sketch, a wireframe, and a </a:t>
            </a:r>
            <a:r>
              <a:rPr lang="en-US" sz="2800" b="1" dirty="0" smtClean="0"/>
              <a:t>prototype (Contd.)</a:t>
            </a:r>
            <a:endParaRPr lang="en-US" sz="2800" b="1" dirty="0"/>
          </a:p>
        </p:txBody>
      </p:sp>
      <p:sp>
        <p:nvSpPr>
          <p:cNvPr id="7" name="Content Placeholder 2"/>
          <p:cNvSpPr>
            <a:spLocks noGrp="1"/>
          </p:cNvSpPr>
          <p:nvPr>
            <p:ph idx="1"/>
          </p:nvPr>
        </p:nvSpPr>
        <p:spPr>
          <a:xfrm>
            <a:off x="0" y="914400"/>
            <a:ext cx="9144000" cy="5943600"/>
          </a:xfrm>
        </p:spPr>
        <p:txBody>
          <a:bodyPr>
            <a:normAutofit lnSpcReduction="10000"/>
          </a:bodyPr>
          <a:lstStyle/>
          <a:p>
            <a:endParaRPr lang="en-US" sz="2400" b="1" dirty="0"/>
          </a:p>
          <a:p>
            <a:pPr fontAlgn="base"/>
            <a:r>
              <a:rPr lang="en-US" sz="2400" b="1" dirty="0" smtClean="0"/>
              <a:t>Sketches:</a:t>
            </a:r>
          </a:p>
          <a:p>
            <a:pPr lvl="1" fontAlgn="base"/>
            <a:r>
              <a:rPr lang="en-US" sz="2400" dirty="0"/>
              <a:t>Sketching and design emerged during the medieval period, so these concepts are nothing new. However, what I believe many people forget is that the intention of sketching is to separate design from the process of making. </a:t>
            </a:r>
            <a:endParaRPr lang="en-US" sz="2400" dirty="0" smtClean="0"/>
          </a:p>
          <a:p>
            <a:pPr lvl="1" fontAlgn="base"/>
            <a:r>
              <a:rPr lang="en-US" sz="2400" dirty="0" smtClean="0"/>
              <a:t>In </a:t>
            </a:r>
            <a:r>
              <a:rPr lang="en-US" sz="2400" dirty="0"/>
              <a:t>the context of design, </a:t>
            </a:r>
            <a:r>
              <a:rPr lang="en-US" sz="2400" i="1" dirty="0"/>
              <a:t>sketching</a:t>
            </a:r>
            <a:r>
              <a:rPr lang="en-US" sz="2400" dirty="0"/>
              <a:t> is rapid, freehand drawing that we do with </a:t>
            </a:r>
            <a:r>
              <a:rPr lang="en-US" sz="2400" i="1" dirty="0"/>
              <a:t>no</a:t>
            </a:r>
            <a:r>
              <a:rPr lang="en-US" sz="2400" dirty="0"/>
              <a:t> intention of its becoming a finished product</a:t>
            </a:r>
            <a:r>
              <a:rPr lang="en-US" sz="2400" dirty="0" smtClean="0"/>
              <a:t>.</a:t>
            </a:r>
          </a:p>
          <a:p>
            <a:pPr lvl="1" fontAlgn="base"/>
            <a:r>
              <a:rPr lang="en-US" sz="2400" dirty="0" smtClean="0"/>
              <a:t> </a:t>
            </a:r>
            <a:r>
              <a:rPr lang="en-US" sz="2400" b="1" dirty="0"/>
              <a:t>In fact, many times, sketching is only a foundation upon which we can overlay our actual design work</a:t>
            </a:r>
            <a:r>
              <a:rPr lang="en-US" sz="2400" b="1" dirty="0" smtClean="0"/>
              <a:t>.</a:t>
            </a:r>
          </a:p>
          <a:p>
            <a:pPr lvl="1" fontAlgn="base"/>
            <a:r>
              <a:rPr lang="en-US" sz="2400" b="1" dirty="0" smtClean="0"/>
              <a:t> </a:t>
            </a:r>
            <a:r>
              <a:rPr lang="en-US" sz="2400" b="1" dirty="0"/>
              <a:t>Thus, sketching is a tool that supports the </a:t>
            </a:r>
            <a:r>
              <a:rPr lang="en-US" sz="2400" b="1" i="1" dirty="0"/>
              <a:t>process</a:t>
            </a:r>
            <a:r>
              <a:rPr lang="en-US" sz="2400" b="1" dirty="0"/>
              <a:t> of making, </a:t>
            </a:r>
            <a:r>
              <a:rPr lang="en-US" sz="2400" b="1" i="1" dirty="0"/>
              <a:t>not</a:t>
            </a:r>
            <a:r>
              <a:rPr lang="en-US" sz="2400" b="1" dirty="0"/>
              <a:t> the actual design itself. </a:t>
            </a:r>
            <a:endParaRPr lang="en-US" sz="2400" b="1" dirty="0" smtClean="0"/>
          </a:p>
          <a:p>
            <a:pPr lvl="1" fontAlgn="base"/>
            <a:r>
              <a:rPr lang="en-US" sz="2400" b="1" dirty="0" smtClean="0"/>
              <a:t>Unfortunately</a:t>
            </a:r>
            <a:r>
              <a:rPr lang="en-US" sz="2400" b="1" dirty="0"/>
              <a:t>, it’s all too easy to forget this fact in our quest to get to an end product. We sometimes hold onto our sketches like they are the be-all and end-all of design. </a:t>
            </a:r>
            <a:endParaRPr lang="en-US" sz="2400" b="1" dirty="0" smtClean="0"/>
          </a:p>
        </p:txBody>
      </p:sp>
    </p:spTree>
    <p:extLst>
      <p:ext uri="{BB962C8B-B14F-4D97-AF65-F5344CB8AC3E}">
        <p14:creationId xmlns:p14="http://schemas.microsoft.com/office/powerpoint/2010/main" val="365413377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609600"/>
          </a:xfrm>
        </p:spPr>
        <p:txBody>
          <a:bodyPr>
            <a:noAutofit/>
          </a:bodyPr>
          <a:lstStyle/>
          <a:p>
            <a:pPr fontAlgn="base"/>
            <a:r>
              <a:rPr lang="en-US" sz="2400" b="1" dirty="0"/>
              <a:t>The Difference between </a:t>
            </a:r>
            <a:r>
              <a:rPr lang="en-US" sz="2400" b="1" dirty="0" smtClean="0"/>
              <a:t>a </a:t>
            </a:r>
            <a:r>
              <a:rPr lang="en-US" sz="2400" b="1" dirty="0"/>
              <a:t>sketch, a wireframe, and a </a:t>
            </a:r>
            <a:r>
              <a:rPr lang="en-US" sz="2400" b="1" dirty="0" smtClean="0"/>
              <a:t>prototype (Contd.)</a:t>
            </a:r>
            <a:endParaRPr lang="en-US" sz="2400" b="1" dirty="0"/>
          </a:p>
        </p:txBody>
      </p:sp>
      <p:sp>
        <p:nvSpPr>
          <p:cNvPr id="7" name="Content Placeholder 2"/>
          <p:cNvSpPr>
            <a:spLocks noGrp="1"/>
          </p:cNvSpPr>
          <p:nvPr>
            <p:ph idx="1"/>
          </p:nvPr>
        </p:nvSpPr>
        <p:spPr>
          <a:xfrm>
            <a:off x="0" y="533400"/>
            <a:ext cx="9144000" cy="6324600"/>
          </a:xfrm>
        </p:spPr>
        <p:txBody>
          <a:bodyPr>
            <a:normAutofit fontScale="77500" lnSpcReduction="20000"/>
          </a:bodyPr>
          <a:lstStyle/>
          <a:p>
            <a:endParaRPr lang="en-US" sz="2400" b="1" dirty="0"/>
          </a:p>
          <a:p>
            <a:pPr fontAlgn="base"/>
            <a:r>
              <a:rPr lang="en-US" sz="3100" b="1" dirty="0" smtClean="0"/>
              <a:t>Sketches (Contd.):</a:t>
            </a:r>
          </a:p>
          <a:p>
            <a:pPr lvl="1"/>
            <a:r>
              <a:rPr lang="en-US" dirty="0"/>
              <a:t>Sketches should </a:t>
            </a:r>
            <a:r>
              <a:rPr lang="en-US" dirty="0" smtClean="0"/>
              <a:t>be:</a:t>
            </a:r>
            <a:endParaRPr lang="en-US" dirty="0"/>
          </a:p>
          <a:p>
            <a:pPr lvl="2"/>
            <a:r>
              <a:rPr lang="en-US" sz="2900" b="1" dirty="0"/>
              <a:t>quick</a:t>
            </a:r>
            <a:r>
              <a:rPr lang="en-US" sz="2900" dirty="0"/>
              <a:t>—Making them does not require long periods of time.</a:t>
            </a:r>
          </a:p>
          <a:p>
            <a:pPr lvl="2"/>
            <a:r>
              <a:rPr lang="en-US" sz="2900" b="1" dirty="0"/>
              <a:t>timely</a:t>
            </a:r>
            <a:r>
              <a:rPr lang="en-US" sz="2900" dirty="0"/>
              <a:t>—You can create sketches on demand.</a:t>
            </a:r>
          </a:p>
          <a:p>
            <a:pPr lvl="2"/>
            <a:r>
              <a:rPr lang="en-US" sz="2900" b="1" dirty="0"/>
              <a:t>inexpensive</a:t>
            </a:r>
            <a:r>
              <a:rPr lang="en-US" sz="2900" dirty="0"/>
              <a:t>—Creating them is cheap, using materials you have on hand.</a:t>
            </a:r>
          </a:p>
          <a:p>
            <a:pPr lvl="2"/>
            <a:r>
              <a:rPr lang="en-US" sz="2900" b="1" dirty="0"/>
              <a:t>disposable</a:t>
            </a:r>
            <a:r>
              <a:rPr lang="en-US" sz="2900" dirty="0"/>
              <a:t>—You don’t care if sketches get thrown away.</a:t>
            </a:r>
          </a:p>
          <a:p>
            <a:pPr lvl="2"/>
            <a:r>
              <a:rPr lang="en-US" sz="2900" b="1" dirty="0" smtClean="0"/>
              <a:t>Plentiful</a:t>
            </a:r>
            <a:r>
              <a:rPr lang="en-US" sz="2900" dirty="0" smtClean="0"/>
              <a:t> —</a:t>
            </a:r>
            <a:r>
              <a:rPr lang="en-US" sz="2900" dirty="0"/>
              <a:t>Sketches don’t exist in isolation of one another.</a:t>
            </a:r>
          </a:p>
          <a:p>
            <a:pPr lvl="2"/>
            <a:r>
              <a:rPr lang="en-US" sz="2900" b="1" dirty="0"/>
              <a:t>clear and use a common vocabulary</a:t>
            </a:r>
            <a:r>
              <a:rPr lang="en-US" sz="2900" dirty="0"/>
              <a:t>—Sketches comprise simple symbols and lines.</a:t>
            </a:r>
          </a:p>
          <a:p>
            <a:pPr lvl="2"/>
            <a:r>
              <a:rPr lang="en-US" sz="2900" b="1" dirty="0"/>
              <a:t>fluid</a:t>
            </a:r>
            <a:r>
              <a:rPr lang="en-US" sz="2900" dirty="0"/>
              <a:t>—They have a fluidity of line and flow that imply creativity.</a:t>
            </a:r>
          </a:p>
          <a:p>
            <a:pPr lvl="2"/>
            <a:r>
              <a:rPr lang="en-US" sz="2900" b="1" dirty="0"/>
              <a:t>minimally detailed</a:t>
            </a:r>
            <a:r>
              <a:rPr lang="en-US" sz="2900" dirty="0"/>
              <a:t>—Sketches are conceptual and suggest structure.</a:t>
            </a:r>
          </a:p>
          <a:p>
            <a:pPr lvl="2"/>
            <a:r>
              <a:rPr lang="en-US" sz="2900" b="1" dirty="0"/>
              <a:t>appropriately refined</a:t>
            </a:r>
            <a:r>
              <a:rPr lang="en-US" sz="2900" dirty="0"/>
              <a:t>—They communicate just enough so others can understand your intent.</a:t>
            </a:r>
          </a:p>
          <a:p>
            <a:pPr lvl="2"/>
            <a:r>
              <a:rPr lang="en-US" sz="2900" b="1" dirty="0"/>
              <a:t>suggestive and exploratory rather than confirming</a:t>
            </a:r>
            <a:r>
              <a:rPr lang="en-US" sz="2900" dirty="0"/>
              <a:t>—When sketching, you haven’t yet made any concrete decisions.</a:t>
            </a:r>
          </a:p>
          <a:p>
            <a:pPr lvl="2"/>
            <a:r>
              <a:rPr lang="en-US" sz="2900" b="1" dirty="0"/>
              <a:t>ambiguous</a:t>
            </a:r>
            <a:r>
              <a:rPr lang="en-US" sz="2900" dirty="0"/>
              <a:t>—You have yet to work out the details, then overlay your design on the foundation your sketches provide.</a:t>
            </a:r>
          </a:p>
        </p:txBody>
      </p:sp>
    </p:spTree>
    <p:extLst>
      <p:ext uri="{BB962C8B-B14F-4D97-AF65-F5344CB8AC3E}">
        <p14:creationId xmlns:p14="http://schemas.microsoft.com/office/powerpoint/2010/main" val="175360649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Autofit/>
          </a:bodyPr>
          <a:lstStyle/>
          <a:p>
            <a:pPr fontAlgn="base"/>
            <a:r>
              <a:rPr lang="en-US" sz="2400" b="1" dirty="0"/>
              <a:t>The Difference between </a:t>
            </a:r>
            <a:r>
              <a:rPr lang="en-US" sz="2400" b="1" dirty="0" smtClean="0"/>
              <a:t>a </a:t>
            </a:r>
            <a:r>
              <a:rPr lang="en-US" sz="2400" b="1" dirty="0"/>
              <a:t>sketch, a wireframe, and a </a:t>
            </a:r>
            <a:r>
              <a:rPr lang="en-US" sz="2400" b="1" dirty="0" smtClean="0"/>
              <a:t>prototype (Contd.)</a:t>
            </a:r>
            <a:endParaRPr lang="en-US" sz="2400" b="1" dirty="0"/>
          </a:p>
        </p:txBody>
      </p:sp>
      <p:sp>
        <p:nvSpPr>
          <p:cNvPr id="7" name="Content Placeholder 2"/>
          <p:cNvSpPr>
            <a:spLocks noGrp="1"/>
          </p:cNvSpPr>
          <p:nvPr>
            <p:ph idx="1"/>
          </p:nvPr>
        </p:nvSpPr>
        <p:spPr>
          <a:xfrm>
            <a:off x="0" y="914400"/>
            <a:ext cx="9144000" cy="5943600"/>
          </a:xfrm>
        </p:spPr>
        <p:txBody>
          <a:bodyPr>
            <a:normAutofit fontScale="77500" lnSpcReduction="20000"/>
          </a:bodyPr>
          <a:lstStyle/>
          <a:p>
            <a:pPr fontAlgn="base"/>
            <a:r>
              <a:rPr lang="en-US" sz="3100" b="1" dirty="0" smtClean="0"/>
              <a:t>Wireframes</a:t>
            </a:r>
            <a:r>
              <a:rPr lang="en-US" sz="3400" b="1" dirty="0" smtClean="0"/>
              <a:t>:</a:t>
            </a:r>
          </a:p>
          <a:p>
            <a:pPr lvl="1"/>
            <a:r>
              <a:rPr lang="en-US" dirty="0"/>
              <a:t>A </a:t>
            </a:r>
            <a:r>
              <a:rPr lang="en-US" i="1" dirty="0"/>
              <a:t>wireframe</a:t>
            </a:r>
            <a:r>
              <a:rPr lang="en-US" dirty="0"/>
              <a:t>, in comparison, is a basic </a:t>
            </a:r>
            <a:r>
              <a:rPr lang="en-US" dirty="0">
                <a:hlinkClick r:id="rId2" tooltip="Visual guide"/>
              </a:rPr>
              <a:t>visual guide</a:t>
            </a:r>
            <a:r>
              <a:rPr lang="en-US" dirty="0"/>
              <a:t> we use to suggest the structure of a </a:t>
            </a:r>
            <a:r>
              <a:rPr lang="en-US" dirty="0">
                <a:hlinkClick r:id="rId3" tooltip="Web site"/>
              </a:rPr>
              <a:t>Web site</a:t>
            </a:r>
            <a:r>
              <a:rPr lang="en-US" dirty="0"/>
              <a:t>, as well as the relationships between its pages. </a:t>
            </a:r>
            <a:endParaRPr lang="en-US" dirty="0" smtClean="0"/>
          </a:p>
          <a:p>
            <a:pPr lvl="1"/>
            <a:r>
              <a:rPr lang="en-US" dirty="0" smtClean="0"/>
              <a:t>Wireframes </a:t>
            </a:r>
            <a:r>
              <a:rPr lang="en-US" dirty="0"/>
              <a:t>come long before we do any visual design. </a:t>
            </a:r>
            <a:endParaRPr lang="en-US" dirty="0" smtClean="0"/>
          </a:p>
          <a:p>
            <a:pPr lvl="1"/>
            <a:r>
              <a:rPr lang="en-US" dirty="0" smtClean="0"/>
              <a:t>A </a:t>
            </a:r>
            <a:r>
              <a:rPr lang="en-US" dirty="0"/>
              <a:t>wireframe’s purpose is to communicate and explore the concepts that come out of sketching—that is, those concepts you actually want to pursue further during user interface design. </a:t>
            </a:r>
            <a:endParaRPr lang="en-US" dirty="0" smtClean="0"/>
          </a:p>
          <a:p>
            <a:pPr lvl="1"/>
            <a:r>
              <a:rPr lang="en-US" b="1" dirty="0" err="1" smtClean="0"/>
              <a:t>Wireframing</a:t>
            </a:r>
            <a:r>
              <a:rPr lang="en-US" b="1" dirty="0" smtClean="0"/>
              <a:t> </a:t>
            </a:r>
            <a:r>
              <a:rPr lang="en-US" b="1" dirty="0"/>
              <a:t>lets us outline a Web site’s basic, overall structure and flow and helps us explore divergent ideas from our sketches</a:t>
            </a:r>
            <a:r>
              <a:rPr lang="en-US" b="1" dirty="0" smtClean="0"/>
              <a:t>.</a:t>
            </a:r>
          </a:p>
          <a:p>
            <a:pPr lvl="1"/>
            <a:r>
              <a:rPr lang="en-US" dirty="0" smtClean="0"/>
              <a:t> </a:t>
            </a:r>
            <a:r>
              <a:rPr lang="en-US" dirty="0"/>
              <a:t>I like Will Evans’ definition of wireframes in a recent article called “Shades of Grey: Wireframes as a Thinking Device.” He says, “for me, wireframes act as a form of </a:t>
            </a:r>
            <a:r>
              <a:rPr lang="en-US" i="1" dirty="0"/>
              <a:t>thinking device</a:t>
            </a:r>
            <a:r>
              <a:rPr lang="en-US" dirty="0"/>
              <a:t> for the setting and exploration of a given problem space.”</a:t>
            </a:r>
          </a:p>
          <a:p>
            <a:pPr lvl="1"/>
            <a:r>
              <a:rPr lang="en-US" b="1" dirty="0"/>
              <a:t>You’ll see there </a:t>
            </a:r>
            <a:r>
              <a:rPr lang="en-US" b="1" i="1" dirty="0"/>
              <a:t>isn’t</a:t>
            </a:r>
            <a:r>
              <a:rPr lang="en-US" b="1" dirty="0"/>
              <a:t> much change from sketch to wireframe—merely a slight refinement and greater formalism. </a:t>
            </a:r>
            <a:endParaRPr lang="en-US" b="1" dirty="0" smtClean="0"/>
          </a:p>
          <a:p>
            <a:pPr lvl="1"/>
            <a:r>
              <a:rPr lang="en-US" b="1" dirty="0" smtClean="0"/>
              <a:t>Our </a:t>
            </a:r>
            <a:r>
              <a:rPr lang="en-US" b="1" dirty="0"/>
              <a:t>initial drafts of wireframes remain tools or artifacts that we use during the process of making to aid conversations as design moves forward. </a:t>
            </a:r>
          </a:p>
        </p:txBody>
      </p:sp>
    </p:spTree>
    <p:extLst>
      <p:ext uri="{BB962C8B-B14F-4D97-AF65-F5344CB8AC3E}">
        <p14:creationId xmlns:p14="http://schemas.microsoft.com/office/powerpoint/2010/main" val="2751179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609600"/>
          </a:xfrm>
        </p:spPr>
        <p:txBody>
          <a:bodyPr>
            <a:noAutofit/>
          </a:bodyPr>
          <a:lstStyle/>
          <a:p>
            <a:pPr fontAlgn="base"/>
            <a:r>
              <a:rPr lang="en-US" sz="2400" b="1" dirty="0"/>
              <a:t>The Difference between </a:t>
            </a:r>
            <a:r>
              <a:rPr lang="en-US" sz="2400" b="1" dirty="0" smtClean="0"/>
              <a:t>a </a:t>
            </a:r>
            <a:r>
              <a:rPr lang="en-US" sz="2400" b="1" dirty="0"/>
              <a:t>sketch, a wireframe, and a </a:t>
            </a:r>
            <a:r>
              <a:rPr lang="en-US" sz="2400" b="1" dirty="0" smtClean="0"/>
              <a:t>prototype (Contd.)</a:t>
            </a:r>
            <a:endParaRPr lang="en-US" sz="2400" b="1" dirty="0"/>
          </a:p>
        </p:txBody>
      </p:sp>
      <p:sp>
        <p:nvSpPr>
          <p:cNvPr id="7" name="Content Placeholder 2"/>
          <p:cNvSpPr>
            <a:spLocks noGrp="1"/>
          </p:cNvSpPr>
          <p:nvPr>
            <p:ph idx="1"/>
          </p:nvPr>
        </p:nvSpPr>
        <p:spPr>
          <a:xfrm>
            <a:off x="0" y="533400"/>
            <a:ext cx="9144000" cy="6324600"/>
          </a:xfrm>
        </p:spPr>
        <p:txBody>
          <a:bodyPr>
            <a:normAutofit fontScale="92500" lnSpcReduction="20000"/>
          </a:bodyPr>
          <a:lstStyle/>
          <a:p>
            <a:endParaRPr lang="en-US" sz="2400" b="1" dirty="0"/>
          </a:p>
          <a:p>
            <a:pPr fontAlgn="base"/>
            <a:r>
              <a:rPr lang="en-US" sz="2600" b="1" dirty="0" smtClean="0"/>
              <a:t>Wireframes (Contd.):</a:t>
            </a:r>
          </a:p>
          <a:p>
            <a:pPr lvl="1"/>
            <a:r>
              <a:rPr lang="en-US" sz="2600" dirty="0" smtClean="0"/>
              <a:t>Wireframes should be:</a:t>
            </a:r>
            <a:endParaRPr lang="en-US" sz="2600" dirty="0"/>
          </a:p>
          <a:p>
            <a:pPr lvl="2"/>
            <a:r>
              <a:rPr lang="en-US" b="1" dirty="0"/>
              <a:t>quick</a:t>
            </a:r>
            <a:r>
              <a:rPr lang="en-US" dirty="0"/>
              <a:t>—Making them does not require long periods of time, but they do take longer than sketches.</a:t>
            </a:r>
          </a:p>
          <a:p>
            <a:pPr lvl="2"/>
            <a:r>
              <a:rPr lang="en-US" b="1" dirty="0"/>
              <a:t>inexpensive</a:t>
            </a:r>
            <a:r>
              <a:rPr lang="en-US" dirty="0"/>
              <a:t>—Creating them is cheap, using materials and tools you have on hand.</a:t>
            </a:r>
          </a:p>
          <a:p>
            <a:pPr lvl="2"/>
            <a:r>
              <a:rPr lang="en-US" b="1" dirty="0"/>
              <a:t>viable</a:t>
            </a:r>
            <a:r>
              <a:rPr lang="en-US" dirty="0"/>
              <a:t>—Wireframes are </a:t>
            </a:r>
            <a:r>
              <a:rPr lang="en-US" i="1" dirty="0"/>
              <a:t>not</a:t>
            </a:r>
            <a:r>
              <a:rPr lang="en-US" dirty="0"/>
              <a:t> as plentiful as sketches, so you should have narrowed your concepts down to viable options.</a:t>
            </a:r>
          </a:p>
          <a:p>
            <a:pPr lvl="2"/>
            <a:r>
              <a:rPr lang="en-US" b="1" dirty="0"/>
              <a:t>clear and use a common vocabulary</a:t>
            </a:r>
            <a:r>
              <a:rPr lang="en-US" dirty="0"/>
              <a:t>—Wireframes comprise simple symbols, lines, and indicators of interactivity.</a:t>
            </a:r>
          </a:p>
          <a:p>
            <a:pPr lvl="2"/>
            <a:r>
              <a:rPr lang="en-US" b="1" dirty="0"/>
              <a:t>minimally detailed</a:t>
            </a:r>
            <a:r>
              <a:rPr lang="en-US" dirty="0"/>
              <a:t>—They are conceptual and suggest structure.</a:t>
            </a:r>
          </a:p>
          <a:p>
            <a:pPr lvl="2"/>
            <a:r>
              <a:rPr lang="en-US" b="1" dirty="0"/>
              <a:t>appropriately refined</a:t>
            </a:r>
            <a:r>
              <a:rPr lang="en-US" dirty="0"/>
              <a:t>—They communicate a sense of structure and layout.</a:t>
            </a:r>
          </a:p>
          <a:p>
            <a:pPr lvl="2"/>
            <a:r>
              <a:rPr lang="en-US" b="1" dirty="0"/>
              <a:t>confirmatory</a:t>
            </a:r>
            <a:r>
              <a:rPr lang="en-US" dirty="0"/>
              <a:t>—Wireframes present concepts that need validation. When creating wireframes, you still haven’t made any concrete decisions.</a:t>
            </a:r>
          </a:p>
          <a:p>
            <a:pPr lvl="2"/>
            <a:r>
              <a:rPr lang="en-US" b="1" dirty="0"/>
              <a:t>ambiguous</a:t>
            </a:r>
            <a:r>
              <a:rPr lang="en-US" dirty="0"/>
              <a:t>—You have yet to work out the finer points of interaction and content.</a:t>
            </a:r>
          </a:p>
        </p:txBody>
      </p:sp>
    </p:spTree>
    <p:extLst>
      <p:ext uri="{BB962C8B-B14F-4D97-AF65-F5344CB8AC3E}">
        <p14:creationId xmlns:p14="http://schemas.microsoft.com/office/powerpoint/2010/main" val="5235904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Autofit/>
          </a:bodyPr>
          <a:lstStyle/>
          <a:p>
            <a:pPr fontAlgn="base"/>
            <a:r>
              <a:rPr lang="en-US" sz="2400" b="1" dirty="0"/>
              <a:t>The Difference between </a:t>
            </a:r>
            <a:r>
              <a:rPr lang="en-US" sz="2400" b="1" dirty="0" smtClean="0"/>
              <a:t>a </a:t>
            </a:r>
            <a:r>
              <a:rPr lang="en-US" sz="2400" b="1" dirty="0"/>
              <a:t>sketch, a wireframe, and a </a:t>
            </a:r>
            <a:r>
              <a:rPr lang="en-US" sz="2400" b="1" dirty="0" smtClean="0"/>
              <a:t>prototype (Contd.)</a:t>
            </a:r>
            <a:endParaRPr lang="en-US" sz="2400" b="1" dirty="0"/>
          </a:p>
        </p:txBody>
      </p:sp>
      <p:sp>
        <p:nvSpPr>
          <p:cNvPr id="7" name="Content Placeholder 2"/>
          <p:cNvSpPr>
            <a:spLocks noGrp="1"/>
          </p:cNvSpPr>
          <p:nvPr>
            <p:ph idx="1"/>
          </p:nvPr>
        </p:nvSpPr>
        <p:spPr>
          <a:xfrm>
            <a:off x="0" y="914400"/>
            <a:ext cx="9144000" cy="5943600"/>
          </a:xfrm>
        </p:spPr>
        <p:txBody>
          <a:bodyPr>
            <a:normAutofit fontScale="77500" lnSpcReduction="20000"/>
          </a:bodyPr>
          <a:lstStyle/>
          <a:p>
            <a:pPr fontAlgn="base"/>
            <a:r>
              <a:rPr lang="en-US" sz="3100" b="1" dirty="0" err="1" smtClean="0"/>
              <a:t>Protoypes</a:t>
            </a:r>
            <a:r>
              <a:rPr lang="en-US" sz="3400" b="1" dirty="0" smtClean="0"/>
              <a:t>:</a:t>
            </a:r>
          </a:p>
          <a:p>
            <a:pPr lvl="1"/>
            <a:r>
              <a:rPr lang="en-US" dirty="0" smtClean="0"/>
              <a:t>A</a:t>
            </a:r>
            <a:r>
              <a:rPr lang="en-US" dirty="0"/>
              <a:t> </a:t>
            </a:r>
            <a:r>
              <a:rPr lang="en-US" i="1" dirty="0"/>
              <a:t>wireframe</a:t>
            </a:r>
            <a:r>
              <a:rPr lang="en-US" dirty="0"/>
              <a:t>, in comparison, is a basic </a:t>
            </a:r>
            <a:r>
              <a:rPr lang="en-US" dirty="0">
                <a:hlinkClick r:id="rId2" tooltip="Visual guide"/>
              </a:rPr>
              <a:t>visual guide</a:t>
            </a:r>
            <a:r>
              <a:rPr lang="en-US" dirty="0"/>
              <a:t> we use to suggest the structure of a </a:t>
            </a:r>
            <a:r>
              <a:rPr lang="en-US" dirty="0">
                <a:hlinkClick r:id="rId3" tooltip="Web site"/>
              </a:rPr>
              <a:t>Web site</a:t>
            </a:r>
            <a:r>
              <a:rPr lang="en-US" dirty="0"/>
              <a:t>, as well as the relationships between its pages. </a:t>
            </a:r>
            <a:endParaRPr lang="en-US" dirty="0" smtClean="0"/>
          </a:p>
          <a:p>
            <a:pPr lvl="1"/>
            <a:r>
              <a:rPr lang="en-US" dirty="0" smtClean="0"/>
              <a:t>Wireframes </a:t>
            </a:r>
            <a:r>
              <a:rPr lang="en-US" dirty="0"/>
              <a:t>come long before we do any visual design. </a:t>
            </a:r>
            <a:endParaRPr lang="en-US" dirty="0" smtClean="0"/>
          </a:p>
          <a:p>
            <a:pPr lvl="1"/>
            <a:r>
              <a:rPr lang="en-US" dirty="0" smtClean="0"/>
              <a:t>A </a:t>
            </a:r>
            <a:r>
              <a:rPr lang="en-US" dirty="0"/>
              <a:t>wireframe’s purpose is to communicate and explore the concepts that come out of sketching—that is, those concepts you actually want to pursue further during user interface design. </a:t>
            </a:r>
            <a:endParaRPr lang="en-US" dirty="0" smtClean="0"/>
          </a:p>
          <a:p>
            <a:pPr lvl="1"/>
            <a:r>
              <a:rPr lang="en-US" b="1" dirty="0" err="1" smtClean="0"/>
              <a:t>Wireframing</a:t>
            </a:r>
            <a:r>
              <a:rPr lang="en-US" b="1" dirty="0" smtClean="0"/>
              <a:t> </a:t>
            </a:r>
            <a:r>
              <a:rPr lang="en-US" b="1" dirty="0"/>
              <a:t>lets us outline a Web site’s basic, overall structure and flow and helps us explore divergent ideas from our sketches</a:t>
            </a:r>
            <a:r>
              <a:rPr lang="en-US" b="1" dirty="0" smtClean="0"/>
              <a:t>.</a:t>
            </a:r>
          </a:p>
          <a:p>
            <a:pPr lvl="1"/>
            <a:r>
              <a:rPr lang="en-US" dirty="0" smtClean="0"/>
              <a:t> </a:t>
            </a:r>
            <a:r>
              <a:rPr lang="en-US" dirty="0"/>
              <a:t>I like Will Evans’ definition of wireframes in a recent article called “Shades of Grey: Wireframes as a Thinking Device.” He says, “for me, wireframes act as a form of </a:t>
            </a:r>
            <a:r>
              <a:rPr lang="en-US" i="1" dirty="0"/>
              <a:t>thinking device</a:t>
            </a:r>
            <a:r>
              <a:rPr lang="en-US" dirty="0"/>
              <a:t> for the setting and exploration of a given problem space.”</a:t>
            </a:r>
          </a:p>
          <a:p>
            <a:pPr lvl="1"/>
            <a:r>
              <a:rPr lang="en-US" b="1" dirty="0"/>
              <a:t>You’ll see there </a:t>
            </a:r>
            <a:r>
              <a:rPr lang="en-US" b="1" i="1" dirty="0"/>
              <a:t>isn’t</a:t>
            </a:r>
            <a:r>
              <a:rPr lang="en-US" b="1" dirty="0"/>
              <a:t> much change from sketch to wireframe—merely a slight refinement and greater formalism. </a:t>
            </a:r>
            <a:endParaRPr lang="en-US" b="1" dirty="0" smtClean="0"/>
          </a:p>
          <a:p>
            <a:pPr lvl="1"/>
            <a:r>
              <a:rPr lang="en-US" b="1" dirty="0" smtClean="0"/>
              <a:t>Our </a:t>
            </a:r>
            <a:r>
              <a:rPr lang="en-US" b="1" dirty="0"/>
              <a:t>initial drafts of wireframes remain tools or artifacts that we use during the process of making to aid conversations as design moves forward. </a:t>
            </a:r>
          </a:p>
        </p:txBody>
      </p:sp>
    </p:spTree>
    <p:extLst>
      <p:ext uri="{BB962C8B-B14F-4D97-AF65-F5344CB8AC3E}">
        <p14:creationId xmlns:p14="http://schemas.microsoft.com/office/powerpoint/2010/main" val="116576658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609600"/>
          </a:xfrm>
        </p:spPr>
        <p:txBody>
          <a:bodyPr>
            <a:noAutofit/>
          </a:bodyPr>
          <a:lstStyle/>
          <a:p>
            <a:pPr fontAlgn="base"/>
            <a:r>
              <a:rPr lang="en-US" sz="2400" b="1" dirty="0"/>
              <a:t>The Difference between </a:t>
            </a:r>
            <a:r>
              <a:rPr lang="en-US" sz="2400" b="1" dirty="0" smtClean="0"/>
              <a:t>a </a:t>
            </a:r>
            <a:r>
              <a:rPr lang="en-US" sz="2400" b="1" dirty="0"/>
              <a:t>sketch, a wireframe, and a </a:t>
            </a:r>
            <a:r>
              <a:rPr lang="en-US" sz="2400" b="1" dirty="0" smtClean="0"/>
              <a:t>prototype (Contd.)</a:t>
            </a:r>
            <a:endParaRPr lang="en-US" sz="2400" b="1" dirty="0"/>
          </a:p>
        </p:txBody>
      </p:sp>
      <p:sp>
        <p:nvSpPr>
          <p:cNvPr id="7" name="Content Placeholder 2"/>
          <p:cNvSpPr>
            <a:spLocks noGrp="1"/>
          </p:cNvSpPr>
          <p:nvPr>
            <p:ph idx="1"/>
          </p:nvPr>
        </p:nvSpPr>
        <p:spPr>
          <a:xfrm>
            <a:off x="0" y="533400"/>
            <a:ext cx="9144000" cy="6324600"/>
          </a:xfrm>
        </p:spPr>
        <p:txBody>
          <a:bodyPr>
            <a:normAutofit/>
          </a:bodyPr>
          <a:lstStyle/>
          <a:p>
            <a:endParaRPr lang="en-US" sz="2400" b="1" dirty="0"/>
          </a:p>
          <a:p>
            <a:pPr fontAlgn="base"/>
            <a:r>
              <a:rPr lang="en-US" sz="2600" b="1" dirty="0" smtClean="0"/>
              <a:t>Prototypes (Contd.):</a:t>
            </a:r>
          </a:p>
          <a:p>
            <a:pPr lvl="1"/>
            <a:r>
              <a:rPr lang="en-US" sz="2400" dirty="0" smtClean="0"/>
              <a:t>Prototypes should be:</a:t>
            </a:r>
            <a:endParaRPr lang="en-US" sz="2400" dirty="0"/>
          </a:p>
          <a:p>
            <a:pPr lvl="2"/>
            <a:r>
              <a:rPr lang="en-US" b="1" dirty="0"/>
              <a:t>quick</a:t>
            </a:r>
            <a:r>
              <a:rPr lang="en-US" dirty="0"/>
              <a:t>—They should require only minimal development effort.</a:t>
            </a:r>
          </a:p>
          <a:p>
            <a:pPr lvl="2"/>
            <a:r>
              <a:rPr lang="en-US" b="1" dirty="0"/>
              <a:t>inexpensive</a:t>
            </a:r>
            <a:r>
              <a:rPr lang="en-US" dirty="0"/>
              <a:t>—The development they require does not require a major investment.</a:t>
            </a:r>
          </a:p>
          <a:p>
            <a:pPr lvl="2"/>
            <a:r>
              <a:rPr lang="en-US" b="1" dirty="0"/>
              <a:t>clear and use a common vocabulary</a:t>
            </a:r>
            <a:r>
              <a:rPr lang="en-US" dirty="0"/>
              <a:t>—Prototypes comprise simple symbols, lines, interactive components, and content.</a:t>
            </a:r>
          </a:p>
          <a:p>
            <a:pPr lvl="2"/>
            <a:r>
              <a:rPr lang="en-US" b="1" dirty="0"/>
              <a:t>detailed</a:t>
            </a:r>
            <a:r>
              <a:rPr lang="en-US" dirty="0"/>
              <a:t>—Prototypes include content and interactivity.</a:t>
            </a:r>
          </a:p>
          <a:p>
            <a:pPr lvl="2"/>
            <a:r>
              <a:rPr lang="en-US" b="1" dirty="0"/>
              <a:t>appropriately refined</a:t>
            </a:r>
            <a:r>
              <a:rPr lang="en-US" dirty="0"/>
              <a:t>—They represent an almost real application—though with a faked user experience.</a:t>
            </a:r>
          </a:p>
          <a:p>
            <a:pPr lvl="2"/>
            <a:r>
              <a:rPr lang="en-US" b="1" dirty="0"/>
              <a:t>validated</a:t>
            </a:r>
            <a:r>
              <a:rPr lang="en-US" dirty="0"/>
              <a:t>—In prototypes, a design is no longer ambiguous or suggestive. A prototype is an actual instantiation of an idea. However, it may still require fine tuning.</a:t>
            </a:r>
          </a:p>
        </p:txBody>
      </p:sp>
    </p:spTree>
    <p:extLst>
      <p:ext uri="{BB962C8B-B14F-4D97-AF65-F5344CB8AC3E}">
        <p14:creationId xmlns:p14="http://schemas.microsoft.com/office/powerpoint/2010/main" val="288797081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838200"/>
          </a:xfrm>
        </p:spPr>
        <p:txBody>
          <a:bodyPr>
            <a:noAutofit/>
          </a:bodyPr>
          <a:lstStyle/>
          <a:p>
            <a:pPr fontAlgn="base"/>
            <a:r>
              <a:rPr lang="en-US" sz="2800" b="1" dirty="0"/>
              <a:t>Understanding the Continuum</a:t>
            </a:r>
          </a:p>
        </p:txBody>
      </p:sp>
      <p:sp>
        <p:nvSpPr>
          <p:cNvPr id="7" name="Content Placeholder 2"/>
          <p:cNvSpPr>
            <a:spLocks noGrp="1"/>
          </p:cNvSpPr>
          <p:nvPr>
            <p:ph idx="1"/>
          </p:nvPr>
        </p:nvSpPr>
        <p:spPr>
          <a:xfrm>
            <a:off x="0" y="685800"/>
            <a:ext cx="9144000" cy="2514600"/>
          </a:xfrm>
        </p:spPr>
        <p:txBody>
          <a:bodyPr>
            <a:normAutofit fontScale="92500" lnSpcReduction="10000"/>
          </a:bodyPr>
          <a:lstStyle/>
          <a:p>
            <a:pPr fontAlgn="base"/>
            <a:r>
              <a:rPr lang="en-US" sz="2400" dirty="0" smtClean="0"/>
              <a:t>Now </a:t>
            </a:r>
            <a:r>
              <a:rPr lang="en-US" sz="2400" dirty="0"/>
              <a:t>comes the tricky part: deciding when a sketch stops being a sketch and becomes a wireframe, then a prototype. </a:t>
            </a:r>
            <a:endParaRPr lang="en-US" sz="2400" dirty="0" smtClean="0"/>
          </a:p>
          <a:p>
            <a:pPr fontAlgn="base"/>
            <a:r>
              <a:rPr lang="en-US" sz="2400" dirty="0" smtClean="0"/>
              <a:t>There </a:t>
            </a:r>
            <a:r>
              <a:rPr lang="en-US" sz="2400" dirty="0"/>
              <a:t>is no clear boundary line separating these design artifacts, which is probably what makes our conversations about them so contentious and hard to articulate. </a:t>
            </a:r>
            <a:endParaRPr lang="en-US" sz="2400" dirty="0" smtClean="0"/>
          </a:p>
          <a:p>
            <a:pPr fontAlgn="base"/>
            <a:r>
              <a:rPr lang="en-US" sz="2400" dirty="0"/>
              <a:t>Bill Buxton, in his book Sketching User Experiences, provides a list of descriptors that help explain the differences:</a:t>
            </a:r>
          </a:p>
          <a:p>
            <a:pPr marL="0" indent="0" fontAlgn="base">
              <a:buNone/>
            </a:pPr>
            <a:endParaRPr lang="en-US" sz="2400" dirty="0" smtClean="0"/>
          </a:p>
        </p:txBody>
      </p:sp>
      <p:graphicFrame>
        <p:nvGraphicFramePr>
          <p:cNvPr id="2" name="Table 1"/>
          <p:cNvGraphicFramePr>
            <a:graphicFrameLocks noGrp="1"/>
          </p:cNvGraphicFramePr>
          <p:nvPr>
            <p:extLst>
              <p:ext uri="{D42A27DB-BD31-4B8C-83A1-F6EECF244321}">
                <p14:modId xmlns:p14="http://schemas.microsoft.com/office/powerpoint/2010/main" val="3139957386"/>
              </p:ext>
            </p:extLst>
          </p:nvPr>
        </p:nvGraphicFramePr>
        <p:xfrm>
          <a:off x="1524000" y="3276600"/>
          <a:ext cx="6096000" cy="3337560"/>
        </p:xfrm>
        <a:graphic>
          <a:graphicData uri="http://schemas.openxmlformats.org/drawingml/2006/table">
            <a:tbl>
              <a:tblPr firstRow="1" bandRow="1">
                <a:tableStyleId>{5C22544A-7EE6-4342-B048-85BDC9FD1C3A}</a:tableStyleId>
              </a:tblPr>
              <a:tblGrid>
                <a:gridCol w="3048000"/>
                <a:gridCol w="3048000"/>
              </a:tblGrid>
              <a:tr h="370840">
                <a:tc>
                  <a:txBody>
                    <a:bodyPr/>
                    <a:lstStyle/>
                    <a:p>
                      <a:pPr algn="ctr"/>
                      <a:r>
                        <a:rPr lang="en-US" sz="1800" dirty="0" smtClean="0">
                          <a:latin typeface="+mj-lt"/>
                        </a:rPr>
                        <a:t>Sketch</a:t>
                      </a:r>
                      <a:endParaRPr lang="en-US" sz="1800" dirty="0">
                        <a:latin typeface="+mj-lt"/>
                      </a:endParaRPr>
                    </a:p>
                  </a:txBody>
                  <a:tcPr/>
                </a:tc>
                <a:tc>
                  <a:txBody>
                    <a:bodyPr/>
                    <a:lstStyle/>
                    <a:p>
                      <a:pPr algn="ctr"/>
                      <a:r>
                        <a:rPr lang="en-US" sz="1800" dirty="0" smtClean="0">
                          <a:latin typeface="+mj-lt"/>
                        </a:rPr>
                        <a:t>Prototype</a:t>
                      </a:r>
                      <a:endParaRPr lang="en-US" sz="1800" dirty="0">
                        <a:latin typeface="+mj-lt"/>
                      </a:endParaRPr>
                    </a:p>
                  </a:txBody>
                  <a:tcPr/>
                </a:tc>
              </a:tr>
              <a:tr h="370840">
                <a:tc>
                  <a:txBody>
                    <a:bodyPr/>
                    <a:lstStyle/>
                    <a:p>
                      <a:pPr algn="ctr" fontAlgn="t"/>
                      <a:r>
                        <a:rPr lang="en-US" sz="1800" dirty="0">
                          <a:effectLst/>
                          <a:latin typeface="+mj-lt"/>
                        </a:rPr>
                        <a:t>Evocative</a:t>
                      </a:r>
                    </a:p>
                  </a:txBody>
                  <a:tcPr/>
                </a:tc>
                <a:tc>
                  <a:txBody>
                    <a:bodyPr/>
                    <a:lstStyle/>
                    <a:p>
                      <a:pPr algn="ctr" fontAlgn="t"/>
                      <a:r>
                        <a:rPr lang="en-US" sz="1800" dirty="0">
                          <a:effectLst/>
                          <a:latin typeface="+mj-lt"/>
                        </a:rPr>
                        <a:t>Didactic</a:t>
                      </a:r>
                    </a:p>
                  </a:txBody>
                  <a:tcPr/>
                </a:tc>
              </a:tr>
              <a:tr h="370840">
                <a:tc>
                  <a:txBody>
                    <a:bodyPr/>
                    <a:lstStyle/>
                    <a:p>
                      <a:pPr algn="ctr" fontAlgn="t"/>
                      <a:r>
                        <a:rPr lang="en-US" sz="1800" dirty="0">
                          <a:effectLst/>
                          <a:latin typeface="+mj-lt"/>
                        </a:rPr>
                        <a:t>Suggest</a:t>
                      </a:r>
                    </a:p>
                  </a:txBody>
                  <a:tcPr/>
                </a:tc>
                <a:tc>
                  <a:txBody>
                    <a:bodyPr/>
                    <a:lstStyle/>
                    <a:p>
                      <a:pPr algn="ctr" fontAlgn="t"/>
                      <a:r>
                        <a:rPr lang="en-US" sz="1800">
                          <a:effectLst/>
                          <a:latin typeface="+mj-lt"/>
                        </a:rPr>
                        <a:t>Describe</a:t>
                      </a:r>
                    </a:p>
                  </a:txBody>
                  <a:tcPr/>
                </a:tc>
              </a:tr>
              <a:tr h="370840">
                <a:tc>
                  <a:txBody>
                    <a:bodyPr/>
                    <a:lstStyle/>
                    <a:p>
                      <a:pPr algn="ctr" fontAlgn="t"/>
                      <a:r>
                        <a:rPr lang="en-US" sz="1800">
                          <a:effectLst/>
                          <a:latin typeface="+mj-lt"/>
                        </a:rPr>
                        <a:t>Explore</a:t>
                      </a:r>
                    </a:p>
                  </a:txBody>
                  <a:tcPr/>
                </a:tc>
                <a:tc>
                  <a:txBody>
                    <a:bodyPr/>
                    <a:lstStyle/>
                    <a:p>
                      <a:pPr algn="ctr" fontAlgn="t"/>
                      <a:r>
                        <a:rPr lang="en-US" sz="1800" dirty="0">
                          <a:effectLst/>
                          <a:latin typeface="+mj-lt"/>
                        </a:rPr>
                        <a:t>Refine</a:t>
                      </a:r>
                    </a:p>
                  </a:txBody>
                  <a:tcPr/>
                </a:tc>
              </a:tr>
              <a:tr h="370840">
                <a:tc>
                  <a:txBody>
                    <a:bodyPr/>
                    <a:lstStyle/>
                    <a:p>
                      <a:pPr algn="ctr" fontAlgn="t"/>
                      <a:r>
                        <a:rPr lang="en-US" sz="1800">
                          <a:effectLst/>
                          <a:latin typeface="+mj-lt"/>
                        </a:rPr>
                        <a:t>Question</a:t>
                      </a:r>
                    </a:p>
                  </a:txBody>
                  <a:tcPr/>
                </a:tc>
                <a:tc>
                  <a:txBody>
                    <a:bodyPr/>
                    <a:lstStyle/>
                    <a:p>
                      <a:pPr algn="ctr" fontAlgn="t"/>
                      <a:r>
                        <a:rPr lang="en-US" sz="1800">
                          <a:effectLst/>
                          <a:latin typeface="+mj-lt"/>
                        </a:rPr>
                        <a:t>Answer</a:t>
                      </a:r>
                    </a:p>
                  </a:txBody>
                  <a:tcPr/>
                </a:tc>
              </a:tr>
              <a:tr h="370840">
                <a:tc>
                  <a:txBody>
                    <a:bodyPr/>
                    <a:lstStyle/>
                    <a:p>
                      <a:pPr algn="ctr" fontAlgn="t"/>
                      <a:r>
                        <a:rPr lang="en-US" sz="1800">
                          <a:effectLst/>
                          <a:latin typeface="+mj-lt"/>
                        </a:rPr>
                        <a:t>Propose</a:t>
                      </a:r>
                    </a:p>
                  </a:txBody>
                  <a:tcPr/>
                </a:tc>
                <a:tc>
                  <a:txBody>
                    <a:bodyPr/>
                    <a:lstStyle/>
                    <a:p>
                      <a:pPr algn="ctr" fontAlgn="t"/>
                      <a:r>
                        <a:rPr lang="en-US" sz="1800">
                          <a:effectLst/>
                          <a:latin typeface="+mj-lt"/>
                        </a:rPr>
                        <a:t>Test</a:t>
                      </a:r>
                    </a:p>
                  </a:txBody>
                  <a:tcPr/>
                </a:tc>
              </a:tr>
              <a:tr h="370840">
                <a:tc>
                  <a:txBody>
                    <a:bodyPr/>
                    <a:lstStyle/>
                    <a:p>
                      <a:pPr algn="ctr" fontAlgn="t"/>
                      <a:r>
                        <a:rPr lang="en-US" sz="1800">
                          <a:effectLst/>
                          <a:latin typeface="+mj-lt"/>
                        </a:rPr>
                        <a:t>Provoke</a:t>
                      </a:r>
                    </a:p>
                  </a:txBody>
                  <a:tcPr/>
                </a:tc>
                <a:tc>
                  <a:txBody>
                    <a:bodyPr/>
                    <a:lstStyle/>
                    <a:p>
                      <a:pPr algn="ctr" fontAlgn="t"/>
                      <a:r>
                        <a:rPr lang="en-US" sz="1800">
                          <a:effectLst/>
                          <a:latin typeface="+mj-lt"/>
                        </a:rPr>
                        <a:t>Resolve</a:t>
                      </a:r>
                    </a:p>
                  </a:txBody>
                  <a:tcPr/>
                </a:tc>
              </a:tr>
              <a:tr h="370840">
                <a:tc>
                  <a:txBody>
                    <a:bodyPr/>
                    <a:lstStyle/>
                    <a:p>
                      <a:pPr algn="ctr" fontAlgn="t"/>
                      <a:r>
                        <a:rPr lang="en-US" sz="1800">
                          <a:effectLst/>
                          <a:latin typeface="+mj-lt"/>
                        </a:rPr>
                        <a:t>Tentative</a:t>
                      </a:r>
                    </a:p>
                  </a:txBody>
                  <a:tcPr/>
                </a:tc>
                <a:tc>
                  <a:txBody>
                    <a:bodyPr/>
                    <a:lstStyle/>
                    <a:p>
                      <a:pPr algn="ctr" fontAlgn="t"/>
                      <a:r>
                        <a:rPr lang="en-US" sz="1800">
                          <a:effectLst/>
                          <a:latin typeface="+mj-lt"/>
                        </a:rPr>
                        <a:t>Specific</a:t>
                      </a:r>
                    </a:p>
                  </a:txBody>
                  <a:tcPr/>
                </a:tc>
              </a:tr>
              <a:tr h="370840">
                <a:tc>
                  <a:txBody>
                    <a:bodyPr/>
                    <a:lstStyle/>
                    <a:p>
                      <a:pPr algn="ctr" fontAlgn="t"/>
                      <a:r>
                        <a:rPr lang="en-US" sz="1800">
                          <a:effectLst/>
                          <a:latin typeface="+mj-lt"/>
                        </a:rPr>
                        <a:t>Non-committal</a:t>
                      </a:r>
                    </a:p>
                  </a:txBody>
                  <a:tcPr/>
                </a:tc>
                <a:tc>
                  <a:txBody>
                    <a:bodyPr/>
                    <a:lstStyle/>
                    <a:p>
                      <a:pPr algn="ctr" fontAlgn="t"/>
                      <a:r>
                        <a:rPr lang="en-US" sz="1800" dirty="0">
                          <a:effectLst/>
                          <a:latin typeface="+mj-lt"/>
                        </a:rPr>
                        <a:t>Depiction</a:t>
                      </a:r>
                    </a:p>
                  </a:txBody>
                  <a:tcPr/>
                </a:tc>
              </a:tr>
            </a:tbl>
          </a:graphicData>
        </a:graphic>
      </p:graphicFrame>
    </p:spTree>
    <p:extLst>
      <p:ext uri="{BB962C8B-B14F-4D97-AF65-F5344CB8AC3E}">
        <p14:creationId xmlns:p14="http://schemas.microsoft.com/office/powerpoint/2010/main" val="20220026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Autofit/>
          </a:bodyPr>
          <a:lstStyle/>
          <a:p>
            <a:pPr fontAlgn="base"/>
            <a:r>
              <a:rPr lang="en-US" sz="2400" b="1" dirty="0"/>
              <a:t>Understanding the </a:t>
            </a:r>
            <a:r>
              <a:rPr lang="en-US" sz="2400" b="1" dirty="0" smtClean="0"/>
              <a:t>Continuum (Contd.)</a:t>
            </a:r>
            <a:endParaRPr lang="en-US" sz="2400" b="1" dirty="0"/>
          </a:p>
        </p:txBody>
      </p:sp>
      <p:sp>
        <p:nvSpPr>
          <p:cNvPr id="7" name="Content Placeholder 2"/>
          <p:cNvSpPr>
            <a:spLocks noGrp="1"/>
          </p:cNvSpPr>
          <p:nvPr>
            <p:ph idx="1"/>
          </p:nvPr>
        </p:nvSpPr>
        <p:spPr>
          <a:xfrm>
            <a:off x="0" y="533400"/>
            <a:ext cx="9144000" cy="6324600"/>
          </a:xfrm>
        </p:spPr>
        <p:txBody>
          <a:bodyPr>
            <a:normAutofit/>
          </a:bodyPr>
          <a:lstStyle/>
          <a:p>
            <a:pPr fontAlgn="base"/>
            <a:r>
              <a:rPr lang="en-US" sz="2000" dirty="0" smtClean="0"/>
              <a:t>This </a:t>
            </a:r>
            <a:r>
              <a:rPr lang="en-US" sz="2000" dirty="0"/>
              <a:t>illustration </a:t>
            </a:r>
            <a:r>
              <a:rPr lang="en-US" sz="2000" b="1" dirty="0"/>
              <a:t>depicts the relationships between a design’s level of commitment and fidelity and what you are trying to communicate. These are the factors that matter when deciding where you are in this continuum. While the lines demarcating sketches, wireframes, and prototypes aren’t clear, the phases of ideation, concept validation, and refinement and usability </a:t>
            </a:r>
            <a:r>
              <a:rPr lang="en-US" sz="2000" b="1" i="1" dirty="0"/>
              <a:t>are</a:t>
            </a:r>
            <a:r>
              <a:rPr lang="en-US" sz="2000" b="1" dirty="0"/>
              <a:t>—and that’s where we should focus our attention.</a:t>
            </a:r>
            <a:endParaRPr lang="en-US" sz="2000" b="1" dirty="0" smtClean="0"/>
          </a:p>
        </p:txBody>
      </p:sp>
      <p:pic>
        <p:nvPicPr>
          <p:cNvPr id="1026" name="Picture 2" descr="C:\Users\gulraiz\Desktop\Untitled-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8450" y="2438400"/>
            <a:ext cx="6007100" cy="4419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27282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533400"/>
          </a:xfrm>
        </p:spPr>
        <p:txBody>
          <a:bodyPr>
            <a:noAutofit/>
          </a:bodyPr>
          <a:lstStyle/>
          <a:p>
            <a:pPr fontAlgn="base"/>
            <a:r>
              <a:rPr lang="en-US" sz="2400" b="1" dirty="0"/>
              <a:t>Understanding the </a:t>
            </a:r>
            <a:r>
              <a:rPr lang="en-US" sz="2400" b="1" dirty="0" smtClean="0"/>
              <a:t>Continuum (Contd.)</a:t>
            </a:r>
            <a:endParaRPr lang="en-US" sz="2400" b="1" dirty="0"/>
          </a:p>
        </p:txBody>
      </p:sp>
      <p:sp>
        <p:nvSpPr>
          <p:cNvPr id="7" name="Content Placeholder 2"/>
          <p:cNvSpPr>
            <a:spLocks noGrp="1"/>
          </p:cNvSpPr>
          <p:nvPr>
            <p:ph idx="1"/>
          </p:nvPr>
        </p:nvSpPr>
        <p:spPr>
          <a:xfrm>
            <a:off x="0" y="533400"/>
            <a:ext cx="9144000" cy="6324600"/>
          </a:xfrm>
        </p:spPr>
        <p:txBody>
          <a:bodyPr>
            <a:noAutofit/>
          </a:bodyPr>
          <a:lstStyle/>
          <a:p>
            <a:r>
              <a:rPr lang="en-US" sz="2200" b="1" dirty="0"/>
              <a:t>Sketches or wireframes support ideation and concept validation, while wireframes or prototypes are important for refinement and usability testing</a:t>
            </a:r>
            <a:r>
              <a:rPr lang="en-US" sz="2200" b="1" dirty="0" smtClean="0"/>
              <a:t>.</a:t>
            </a:r>
          </a:p>
          <a:p>
            <a:r>
              <a:rPr lang="en-US" sz="2200" dirty="0" smtClean="0"/>
              <a:t> </a:t>
            </a:r>
            <a:r>
              <a:rPr lang="en-US" sz="2200" b="1" dirty="0"/>
              <a:t>When we are exploring and validating our divergent design ideas, a lack of commitment is important and beneficial. This allows us to be more flexible in our iterations and, therefore, more creative</a:t>
            </a:r>
            <a:r>
              <a:rPr lang="en-US" sz="2200" b="1" dirty="0" smtClean="0"/>
              <a:t>.</a:t>
            </a:r>
          </a:p>
          <a:p>
            <a:r>
              <a:rPr lang="en-US" sz="2200" b="1" dirty="0" smtClean="0"/>
              <a:t> </a:t>
            </a:r>
            <a:r>
              <a:rPr lang="en-US" sz="2200" b="1" dirty="0"/>
              <a:t>As we start to whittle down our design options and refine those that merit further exploration, we need to start articulating them in a more realistic manner, so everyone on a product team can participate in the design conversation with the same understanding. This is why it’s more important in later phases to create wireframes or prototypes.</a:t>
            </a:r>
          </a:p>
          <a:p>
            <a:r>
              <a:rPr lang="en-US" sz="2200" dirty="0"/>
              <a:t>There are also clear differences in the communication that happens during each phase that help distinguish which artifact is the best vehicle</a:t>
            </a:r>
            <a:r>
              <a:rPr lang="en-US" sz="2200" dirty="0" smtClean="0"/>
              <a:t>.</a:t>
            </a:r>
          </a:p>
          <a:p>
            <a:r>
              <a:rPr lang="en-US" sz="2200" dirty="0" smtClean="0"/>
              <a:t>And </a:t>
            </a:r>
            <a:r>
              <a:rPr lang="en-US" sz="2200" dirty="0"/>
              <a:t>lastly, </a:t>
            </a:r>
            <a:r>
              <a:rPr lang="en-US" sz="2200" b="1" dirty="0"/>
              <a:t>you can see that the amount of iteration that occurs gets smaller and farther apart as we move toward the ultimate design. This is a natural progression as divergent ideas converge in an actual solution.</a:t>
            </a:r>
          </a:p>
        </p:txBody>
      </p:sp>
    </p:spTree>
    <p:extLst>
      <p:ext uri="{BB962C8B-B14F-4D97-AF65-F5344CB8AC3E}">
        <p14:creationId xmlns:p14="http://schemas.microsoft.com/office/powerpoint/2010/main" val="3243263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0" y="0"/>
            <a:ext cx="9144000" cy="990600"/>
          </a:xfrm>
        </p:spPr>
        <p:txBody>
          <a:bodyPr>
            <a:normAutofit/>
          </a:bodyPr>
          <a:lstStyle/>
          <a:p>
            <a:r>
              <a:rPr lang="en-US" sz="4000" dirty="0" smtClean="0"/>
              <a:t>References</a:t>
            </a:r>
            <a:endParaRPr lang="en-US" sz="4000" dirty="0"/>
          </a:p>
        </p:txBody>
      </p:sp>
      <p:sp>
        <p:nvSpPr>
          <p:cNvPr id="7" name="Content Placeholder 2"/>
          <p:cNvSpPr>
            <a:spLocks noGrp="1"/>
          </p:cNvSpPr>
          <p:nvPr>
            <p:ph idx="1"/>
          </p:nvPr>
        </p:nvSpPr>
        <p:spPr>
          <a:xfrm>
            <a:off x="0" y="685800"/>
            <a:ext cx="9144000" cy="6172200"/>
          </a:xfrm>
        </p:spPr>
        <p:txBody>
          <a:bodyPr>
            <a:normAutofit/>
          </a:bodyPr>
          <a:lstStyle/>
          <a:p>
            <a:r>
              <a:rPr lang="en-US" sz="2400" dirty="0">
                <a:hlinkClick r:id="rId2"/>
              </a:rPr>
              <a:t>https://</a:t>
            </a:r>
            <a:r>
              <a:rPr lang="en-US" sz="2400" dirty="0" smtClean="0">
                <a:hlinkClick r:id="rId2"/>
              </a:rPr>
              <a:t>www.usability.gov/how-to-and-tools/methods/prototyping.html</a:t>
            </a:r>
          </a:p>
          <a:p>
            <a:r>
              <a:rPr lang="en-US" sz="2400" dirty="0">
                <a:hlinkClick r:id="rId2"/>
              </a:rPr>
              <a:t>http://</a:t>
            </a:r>
            <a:r>
              <a:rPr lang="en-US" sz="2400" dirty="0" smtClean="0">
                <a:hlinkClick r:id="rId2"/>
              </a:rPr>
              <a:t>www.uxmatters.com/mt/archives/2010/05/sketches-and-wireframes-and-prototypes-oh-my-creating-your-own-magical-wizard-experience.php</a:t>
            </a:r>
          </a:p>
          <a:p>
            <a:r>
              <a:rPr lang="en-US" sz="2400" dirty="0">
                <a:hlinkClick r:id="rId2"/>
              </a:rPr>
              <a:t>https://www.cooper.com/prototyping-tools</a:t>
            </a:r>
            <a:endParaRPr lang="en-US" sz="2400" dirty="0" smtClean="0">
              <a:hlinkClick r:id="rId2"/>
            </a:endParaRPr>
          </a:p>
          <a:p>
            <a:r>
              <a:rPr lang="en-US" sz="2400" dirty="0">
                <a:hlinkClick r:id="rId3"/>
              </a:rPr>
              <a:t>http://</a:t>
            </a:r>
            <a:r>
              <a:rPr lang="en-US" sz="2400" dirty="0" smtClean="0">
                <a:hlinkClick r:id="rId3"/>
              </a:rPr>
              <a:t>www.bcs.org/upload/pdf/ewic_hc07_lppaper18.pdf</a:t>
            </a:r>
            <a:endParaRPr lang="en-US" sz="2400" dirty="0" smtClean="0"/>
          </a:p>
          <a:p>
            <a:endParaRPr lang="en-US" sz="2400" dirty="0" smtClean="0"/>
          </a:p>
          <a:p>
            <a:endParaRPr lang="en-US" sz="2400" dirty="0"/>
          </a:p>
        </p:txBody>
      </p:sp>
    </p:spTree>
    <p:extLst>
      <p:ext uri="{BB962C8B-B14F-4D97-AF65-F5344CB8AC3E}">
        <p14:creationId xmlns:p14="http://schemas.microsoft.com/office/powerpoint/2010/main" val="410830675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780</TotalTime>
  <Words>1017</Words>
  <Application>Microsoft Office PowerPoint</Application>
  <PresentationFormat>On-screen Show (4:3)</PresentationFormat>
  <Paragraphs>129</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Prototyping</vt:lpstr>
      <vt:lpstr>Benefits of Prototypes </vt:lpstr>
      <vt:lpstr>High-Fidelity and Low-Fidelity Prototyping</vt:lpstr>
      <vt:lpstr>High-Fidelity and Low-Fidelity Prototyping (Contd.)</vt:lpstr>
      <vt:lpstr>High-Fidelity and Low-Fidelity Prototyping (Contd.)</vt:lpstr>
      <vt:lpstr>The Difference between a sketch, a wireframe, and a prototype</vt:lpstr>
      <vt:lpstr>The Difference between a sketch, a wireframe, and a prototype (Contd.)</vt:lpstr>
      <vt:lpstr>The Difference between a sketch, a wireframe, and a prototype (Contd.)</vt:lpstr>
      <vt:lpstr>The Difference between a sketch, a wireframe, and a prototype (Contd.)</vt:lpstr>
      <vt:lpstr>The Difference between a sketch, a wireframe, and a prototype (Contd.)</vt:lpstr>
      <vt:lpstr>The Difference between a sketch, a wireframe, and a prototype (Contd.)</vt:lpstr>
      <vt:lpstr>The Difference between a sketch, a wireframe, and a prototype (Contd.)</vt:lpstr>
      <vt:lpstr>Understanding the Continuum</vt:lpstr>
      <vt:lpstr>Understanding the Continuum (Contd.)</vt:lpstr>
      <vt:lpstr>Understanding the Continuum (Contd.)</vt:lpstr>
      <vt:lpstr>References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Risk Analysis</dc:title>
  <dc:creator>gulraiz</dc:creator>
  <cp:lastModifiedBy>gulraiz</cp:lastModifiedBy>
  <cp:revision>253</cp:revision>
  <dcterms:created xsi:type="dcterms:W3CDTF">2014-08-12T16:29:38Z</dcterms:created>
  <dcterms:modified xsi:type="dcterms:W3CDTF">2017-04-24T09:47:39Z</dcterms:modified>
</cp:coreProperties>
</file>