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4" r:id="rId4"/>
    <p:sldId id="260" r:id="rId5"/>
    <p:sldId id="261" r:id="rId6"/>
    <p:sldId id="262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78462-CCA5-4CFA-A196-17550FE0A9E1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ubberly.com/presentations/conceptual_models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Conceptual Models in Interaction Design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800" dirty="0" smtClean="0"/>
              <a:t>Interaction </a:t>
            </a:r>
            <a:r>
              <a:rPr lang="en-US" sz="2800" dirty="0"/>
              <a:t>design consists of concepts, task flow, and presentation</a:t>
            </a:r>
            <a:r>
              <a:rPr lang="en-US" sz="2800" dirty="0" smtClean="0"/>
              <a:t>.</a:t>
            </a:r>
          </a:p>
          <a:p>
            <a:pPr lvl="1"/>
            <a:r>
              <a:rPr lang="en-US" sz="2400" dirty="0"/>
              <a:t>Concepts</a:t>
            </a:r>
          </a:p>
          <a:p>
            <a:pPr lvl="2"/>
            <a:r>
              <a:rPr lang="en-US" dirty="0"/>
              <a:t>e.g., all concepts that the application’s user interface exposes to users</a:t>
            </a:r>
          </a:p>
          <a:p>
            <a:r>
              <a:rPr lang="en-US" sz="2800" dirty="0"/>
              <a:t>  -Task </a:t>
            </a:r>
            <a:r>
              <a:rPr lang="en-US" sz="2800" dirty="0" smtClean="0"/>
              <a:t>ﬂow</a:t>
            </a:r>
            <a:endParaRPr lang="en-US" sz="2800" dirty="0"/>
          </a:p>
          <a:p>
            <a:pPr lvl="2"/>
            <a:r>
              <a:rPr lang="en-US" dirty="0"/>
              <a:t>e.g., the sequence of operations that users execute to accomplish tasks</a:t>
            </a:r>
          </a:p>
          <a:p>
            <a:r>
              <a:rPr lang="en-US" sz="2800" dirty="0"/>
              <a:t>  - Presentation </a:t>
            </a:r>
          </a:p>
          <a:p>
            <a:pPr lvl="2"/>
            <a:r>
              <a:rPr lang="en-US" dirty="0"/>
              <a:t>e.g., the controls, displays, etc. that comprise its user interface</a:t>
            </a:r>
            <a:endParaRPr lang="en-US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18808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Using Conceptual Models in Interaction </a:t>
            </a:r>
            <a:r>
              <a:rPr lang="en-US" sz="3200" dirty="0" smtClean="0"/>
              <a:t>Design (Contd.)</a:t>
            </a:r>
            <a:endParaRPr lang="en-US" sz="3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 fontScale="92500" lnSpcReduction="10000"/>
          </a:bodyPr>
          <a:lstStyle/>
          <a:p>
            <a:endParaRPr lang="en-US" sz="2400" dirty="0"/>
          </a:p>
          <a:p>
            <a:r>
              <a:rPr lang="en-US" sz="2800" dirty="0"/>
              <a:t>A conceptual model is   a high-level description of an application. </a:t>
            </a:r>
          </a:p>
          <a:p>
            <a:r>
              <a:rPr lang="en-US" sz="2800" dirty="0"/>
              <a:t>It enumerates all concepts in the application that users can encounter, describes how those concepts relate to each other, and how those concept </a:t>
            </a:r>
            <a:r>
              <a:rPr lang="en-US" sz="2800" dirty="0" smtClean="0"/>
              <a:t>it </a:t>
            </a:r>
            <a:r>
              <a:rPr lang="en-US" sz="2800" dirty="0"/>
              <a:t>into tasks that users perform with the application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>More precisely, a conceptual model of an interactive application includes, the data “objects,” which a user may encounter, and the “operations, attributes, and relationships, which a user may perform on the data objects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>It’s important to note that the conceptual model is independent of task ﬂ ow and presentation.</a:t>
            </a:r>
          </a:p>
          <a:p>
            <a:r>
              <a:rPr lang="en-US" sz="2800" dirty="0"/>
              <a:t>As you work out task ﬂow, you may </a:t>
            </a:r>
            <a:r>
              <a:rPr lang="en-US" sz="2800" dirty="0" smtClean="0"/>
              <a:t>ﬁnd </a:t>
            </a:r>
            <a:r>
              <a:rPr lang="en-US" sz="2800" dirty="0"/>
              <a:t>problems in the conceptual model, and you may need to modify it.</a:t>
            </a:r>
            <a:endParaRPr lang="en-US" sz="28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4664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Using Conceptual Models in Interaction </a:t>
            </a:r>
            <a:r>
              <a:rPr lang="en-US" sz="3200" dirty="0" smtClean="0"/>
              <a:t>Design (Contd.)</a:t>
            </a:r>
            <a:endParaRPr lang="en-US" sz="3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800" dirty="0"/>
              <a:t>Lists are not models. </a:t>
            </a:r>
          </a:p>
          <a:p>
            <a:r>
              <a:rPr lang="en-US" sz="2800" dirty="0"/>
              <a:t>Sentences are not </a:t>
            </a:r>
            <a:r>
              <a:rPr lang="en-US" sz="2800" dirty="0" smtClean="0"/>
              <a:t>efﬁcient </a:t>
            </a:r>
            <a:r>
              <a:rPr lang="en-US" sz="2800" dirty="0"/>
              <a:t>means </a:t>
            </a:r>
            <a:r>
              <a:rPr lang="en-US" sz="2800" dirty="0" smtClean="0"/>
              <a:t>of </a:t>
            </a:r>
            <a:r>
              <a:rPr lang="en-US" sz="2800" dirty="0"/>
              <a:t>describing </a:t>
            </a:r>
            <a:r>
              <a:rPr lang="en-US" sz="2800" dirty="0" smtClean="0"/>
              <a:t>structure - Text </a:t>
            </a:r>
            <a:r>
              <a:rPr lang="en-US" sz="2800" dirty="0"/>
              <a:t>is often redundant.</a:t>
            </a:r>
          </a:p>
          <a:p>
            <a:r>
              <a:rPr lang="en-US" sz="2800" b="1" dirty="0"/>
              <a:t>Node-link diagrams—concept </a:t>
            </a:r>
            <a:r>
              <a:rPr lang="en-US" sz="2800" b="1" dirty="0" smtClean="0"/>
              <a:t>maps—are </a:t>
            </a:r>
            <a:r>
              <a:rPr lang="en-US" sz="2800" b="1" dirty="0"/>
              <a:t>a more </a:t>
            </a:r>
            <a:r>
              <a:rPr lang="en-US" sz="2800" b="1" dirty="0" smtClean="0"/>
              <a:t>efﬁcient </a:t>
            </a:r>
            <a:r>
              <a:rPr lang="en-US" sz="2800" b="1" dirty="0"/>
              <a:t>means </a:t>
            </a:r>
            <a:r>
              <a:rPr lang="en-US" sz="2800" b="1" dirty="0" smtClean="0"/>
              <a:t>of </a:t>
            </a:r>
            <a:r>
              <a:rPr lang="en-US" sz="2800" b="1" dirty="0"/>
              <a:t>representing conceptual models</a:t>
            </a:r>
            <a:endParaRPr lang="en-US" sz="2800" b="1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63289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782" y="3048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Example </a:t>
            </a:r>
            <a:r>
              <a:rPr lang="en-US" sz="3200" dirty="0"/>
              <a:t>of a conceptual model Johnson + </a:t>
            </a:r>
            <a:r>
              <a:rPr lang="en-US" sz="3200" dirty="0" smtClean="0"/>
              <a:t>Henderson – Alarm Clock</a:t>
            </a:r>
            <a:endParaRPr lang="en-US" sz="3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800" dirty="0" smtClean="0"/>
              <a:t>The </a:t>
            </a:r>
            <a:r>
              <a:rPr lang="en-US" sz="2800" dirty="0"/>
              <a:t>clock </a:t>
            </a:r>
            <a:r>
              <a:rPr lang="en-US" sz="2800" b="1" dirty="0"/>
              <a:t>stores</a:t>
            </a:r>
            <a:r>
              <a:rPr lang="en-US" sz="2800" dirty="0"/>
              <a:t> the </a:t>
            </a:r>
            <a:r>
              <a:rPr lang="en-US" sz="2800" b="1" i="1" dirty="0"/>
              <a:t>current time </a:t>
            </a:r>
            <a:r>
              <a:rPr lang="en-US" sz="2800" dirty="0"/>
              <a:t>of day, </a:t>
            </a:r>
          </a:p>
          <a:p>
            <a:r>
              <a:rPr lang="en-US" sz="2800" dirty="0"/>
              <a:t>continually </a:t>
            </a:r>
            <a:r>
              <a:rPr lang="en-US" sz="2800" b="1" dirty="0"/>
              <a:t>updating</a:t>
            </a:r>
            <a:r>
              <a:rPr lang="en-US" sz="2800" dirty="0"/>
              <a:t> it to track the passage of time.</a:t>
            </a:r>
          </a:p>
          <a:p>
            <a:r>
              <a:rPr lang="en-US" sz="2800" dirty="0"/>
              <a:t>It </a:t>
            </a:r>
            <a:r>
              <a:rPr lang="en-US" sz="2800" b="1" dirty="0"/>
              <a:t>displays</a:t>
            </a:r>
            <a:r>
              <a:rPr lang="en-US" sz="2800" dirty="0"/>
              <a:t> the current time constantly.</a:t>
            </a:r>
          </a:p>
          <a:p>
            <a:r>
              <a:rPr lang="en-US" sz="2800" b="1" i="1" dirty="0"/>
              <a:t>Users</a:t>
            </a:r>
            <a:r>
              <a:rPr lang="en-US" sz="2800" dirty="0"/>
              <a:t> can </a:t>
            </a:r>
            <a:r>
              <a:rPr lang="en-US" sz="2800" b="1" dirty="0"/>
              <a:t>set</a:t>
            </a:r>
            <a:r>
              <a:rPr lang="en-US" sz="2800" dirty="0"/>
              <a:t> the current time.</a:t>
            </a:r>
          </a:p>
          <a:p>
            <a:r>
              <a:rPr lang="en-US" sz="2800" b="1" i="1" dirty="0"/>
              <a:t>Users</a:t>
            </a:r>
            <a:r>
              <a:rPr lang="en-US" sz="2800" dirty="0"/>
              <a:t> can set an </a:t>
            </a:r>
            <a:r>
              <a:rPr lang="en-US" sz="2800" b="1" dirty="0"/>
              <a:t>alarm</a:t>
            </a:r>
            <a:r>
              <a:rPr lang="en-US" sz="2800" dirty="0"/>
              <a:t> at a </a:t>
            </a:r>
            <a:r>
              <a:rPr lang="en-US" sz="2800" b="1" i="1" dirty="0" smtClean="0"/>
              <a:t>speciﬁed </a:t>
            </a:r>
            <a:r>
              <a:rPr lang="en-US" sz="2800" b="1" i="1" dirty="0"/>
              <a:t>time</a:t>
            </a:r>
            <a:r>
              <a:rPr lang="en-US" sz="2800" dirty="0"/>
              <a:t>, or no alarm.</a:t>
            </a:r>
          </a:p>
          <a:p>
            <a:r>
              <a:rPr lang="en-US" sz="2800" dirty="0"/>
              <a:t>When an alarm is set and the current time equals the set </a:t>
            </a:r>
            <a:r>
              <a:rPr lang="en-US" sz="2800" b="1" dirty="0"/>
              <a:t>alarm time</a:t>
            </a:r>
            <a:r>
              <a:rPr lang="en-US" sz="2800" dirty="0"/>
              <a:t>, </a:t>
            </a:r>
            <a:r>
              <a:rPr lang="en-US" sz="2800" dirty="0" smtClean="0"/>
              <a:t>the </a:t>
            </a:r>
            <a:r>
              <a:rPr lang="en-US" sz="2800" b="1" dirty="0"/>
              <a:t>alarm</a:t>
            </a:r>
            <a:r>
              <a:rPr lang="en-US" sz="2800" dirty="0"/>
              <a:t> is </a:t>
            </a:r>
            <a:r>
              <a:rPr lang="en-US" sz="2800" b="1" dirty="0"/>
              <a:t>triggered</a:t>
            </a:r>
            <a:r>
              <a:rPr lang="en-US" sz="2800" dirty="0"/>
              <a:t>.</a:t>
            </a:r>
          </a:p>
          <a:p>
            <a:r>
              <a:rPr lang="en-US" sz="2800" dirty="0"/>
              <a:t>Users can </a:t>
            </a:r>
            <a:r>
              <a:rPr lang="en-US" sz="2800" b="1" dirty="0"/>
              <a:t>turn off </a:t>
            </a:r>
            <a:r>
              <a:rPr lang="en-US" sz="2800" dirty="0"/>
              <a:t>an alarm.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74040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782" y="3048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Example </a:t>
            </a:r>
            <a:r>
              <a:rPr lang="en-US" sz="3200" dirty="0"/>
              <a:t>of a conceptual model Johnson + </a:t>
            </a:r>
            <a:r>
              <a:rPr lang="en-US" sz="3200" dirty="0" smtClean="0"/>
              <a:t>Henderson – Alarm Clock (Contd.)</a:t>
            </a:r>
            <a:endParaRPr lang="en-US" sz="3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800" dirty="0"/>
              <a:t>could be expressed in digital or analog travel clocks</a:t>
            </a:r>
            <a:r>
              <a:rPr lang="en-US" sz="2800" dirty="0" smtClean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300" y="2971800"/>
            <a:ext cx="5613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9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782" y="3048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Example </a:t>
            </a:r>
            <a:r>
              <a:rPr lang="en-US" sz="3200" dirty="0"/>
              <a:t>of a conceptual model Johnson + </a:t>
            </a:r>
            <a:r>
              <a:rPr lang="en-US" sz="3200" dirty="0" smtClean="0"/>
              <a:t>Henderson – Alarm Clock (Contd.)</a:t>
            </a:r>
            <a:endParaRPr lang="en-US" sz="3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800" dirty="0"/>
              <a:t>could also </a:t>
            </a:r>
            <a:r>
              <a:rPr lang="en-US" sz="2800" dirty="0" smtClean="0"/>
              <a:t>describe </a:t>
            </a:r>
            <a:r>
              <a:rPr lang="en-US" sz="2800" dirty="0"/>
              <a:t>the iPhone and Galaxy Nexus clocks.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705" y="2362200"/>
            <a:ext cx="54483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7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782" y="3048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Example </a:t>
            </a:r>
            <a:r>
              <a:rPr lang="en-US" sz="3200" dirty="0"/>
              <a:t>of a conceptual model Johnson + </a:t>
            </a:r>
            <a:r>
              <a:rPr lang="en-US" sz="3200" dirty="0" smtClean="0"/>
              <a:t>Henderson – Alarm Clock (Contd.)</a:t>
            </a:r>
            <a:endParaRPr lang="en-US" sz="3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 </a:t>
            </a:r>
            <a:r>
              <a:rPr lang="en-US" sz="2800" dirty="0"/>
              <a:t>conceptual model of an alarm </a:t>
            </a:r>
            <a:r>
              <a:rPr lang="en-US" sz="2800" dirty="0" smtClean="0"/>
              <a:t>clock represented </a:t>
            </a:r>
            <a:r>
              <a:rPr lang="en-US" sz="2800" dirty="0"/>
              <a:t>as a concept map.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9" y="2296912"/>
            <a:ext cx="5862205" cy="448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63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782" y="3048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Example </a:t>
            </a:r>
            <a:r>
              <a:rPr lang="en-US" sz="3200" dirty="0"/>
              <a:t>of a conceptual model Johnson + </a:t>
            </a:r>
            <a:r>
              <a:rPr lang="en-US" sz="3200" dirty="0" smtClean="0"/>
              <a:t>Henderson – Alarm Clock (Contd.)</a:t>
            </a:r>
            <a:endParaRPr lang="en-US" sz="3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800" dirty="0"/>
              <a:t>Conceptual model of an alarm </a:t>
            </a:r>
            <a:r>
              <a:rPr lang="en-US" sz="2800" dirty="0" smtClean="0"/>
              <a:t>clock with </a:t>
            </a:r>
            <a:r>
              <a:rPr lang="en-US" sz="2800" dirty="0"/>
              <a:t>detail added.</a:t>
            </a:r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4600"/>
            <a:ext cx="9144000" cy="336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68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782" y="304800"/>
            <a:ext cx="9144000" cy="8382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Summary</a:t>
            </a:r>
            <a:endParaRPr lang="en-US" sz="3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r>
              <a:rPr lang="en-US" sz="2400" dirty="0"/>
              <a:t>Product teams should agree </a:t>
            </a:r>
            <a:r>
              <a:rPr lang="en-US" sz="2400" dirty="0" smtClean="0"/>
              <a:t>on </a:t>
            </a:r>
            <a:r>
              <a:rPr lang="en-US" sz="2400" dirty="0"/>
              <a:t>a conceptual </a:t>
            </a:r>
            <a:r>
              <a:rPr lang="en-US" sz="2400" dirty="0" smtClean="0"/>
              <a:t>model—a deﬁnition </a:t>
            </a:r>
            <a:r>
              <a:rPr lang="en-US" sz="2400" dirty="0"/>
              <a:t>of what users need to </a:t>
            </a:r>
            <a:r>
              <a:rPr lang="en-US" sz="2400" dirty="0" smtClean="0"/>
              <a:t>know—well </a:t>
            </a:r>
            <a:r>
              <a:rPr lang="en-US" sz="2400" dirty="0"/>
              <a:t>before creating wire-frames </a:t>
            </a:r>
            <a:r>
              <a:rPr lang="en-US" sz="2400" dirty="0" smtClean="0"/>
              <a:t> and </a:t>
            </a:r>
            <a:r>
              <a:rPr lang="en-US" sz="2400" dirty="0"/>
              <a:t>writing code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The model will change over the course </a:t>
            </a:r>
            <a:r>
              <a:rPr lang="en-US" sz="2400" dirty="0" smtClean="0"/>
              <a:t>of </a:t>
            </a:r>
            <a:r>
              <a:rPr lang="en-US" sz="2400" dirty="0"/>
              <a:t>the product development process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Developing a standard form for conceptual models </a:t>
            </a:r>
            <a:r>
              <a:rPr lang="en-US" sz="2400" dirty="0" smtClean="0"/>
              <a:t>will </a:t>
            </a:r>
            <a:r>
              <a:rPr lang="en-US" sz="2400" dirty="0"/>
              <a:t>make them easier to understand, </a:t>
            </a:r>
            <a:r>
              <a:rPr lang="en-US" sz="2400" dirty="0" smtClean="0"/>
              <a:t>easier </a:t>
            </a:r>
            <a:r>
              <a:rPr lang="en-US" sz="2400" dirty="0"/>
              <a:t>to make, and easier to teach new designers.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467575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782" y="304800"/>
            <a:ext cx="9144000" cy="8382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References &amp; Further Reading</a:t>
            </a:r>
            <a:endParaRPr lang="en-US" sz="3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http://www.dubberly.com/presentations/conceptual_models.pdf</a:t>
            </a:r>
            <a:r>
              <a:rPr lang="en-US" sz="2400" dirty="0" smtClean="0"/>
              <a:t> </a:t>
            </a:r>
          </a:p>
          <a:p>
            <a:r>
              <a:rPr lang="en-US" sz="2400" dirty="0"/>
              <a:t>Conceptual Models: Begin by Designing </a:t>
            </a:r>
            <a:r>
              <a:rPr lang="en-US" sz="2400" dirty="0" smtClean="0"/>
              <a:t>What </a:t>
            </a:r>
            <a:r>
              <a:rPr lang="en-US" sz="2400" dirty="0"/>
              <a:t>to Design by </a:t>
            </a:r>
            <a:r>
              <a:rPr lang="en-US" sz="2400" dirty="0" smtClean="0"/>
              <a:t>Jeff Johnson and Austin Henderson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62684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509</Words>
  <Application>Microsoft Office PowerPoint</Application>
  <PresentationFormat>On-screen Show (4:3)</PresentationFormat>
  <Paragraphs>72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Using Conceptual Models in Interaction Design</vt:lpstr>
      <vt:lpstr>Using Conceptual Models in Interaction Design (Contd.)</vt:lpstr>
      <vt:lpstr>Using Conceptual Models in Interaction Design (Contd.)</vt:lpstr>
      <vt:lpstr>Example of a conceptual model Johnson + Henderson – Alarm Clock</vt:lpstr>
      <vt:lpstr>Example of a conceptual model Johnson + Henderson – Alarm Clock (Contd.)</vt:lpstr>
      <vt:lpstr>Example of a conceptual model Johnson + Henderson – Alarm Clock (Contd.)</vt:lpstr>
      <vt:lpstr>Example of a conceptual model Johnson + Henderson – Alarm Clock (Contd.)</vt:lpstr>
      <vt:lpstr>Example of a conceptual model Johnson + Henderson – Alarm Clock (Contd.)</vt:lpstr>
      <vt:lpstr>Summary</vt:lpstr>
      <vt:lpstr>References &amp; Further Reading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gulraiz</cp:lastModifiedBy>
  <cp:revision>125</cp:revision>
  <dcterms:created xsi:type="dcterms:W3CDTF">2014-08-12T16:29:38Z</dcterms:created>
  <dcterms:modified xsi:type="dcterms:W3CDTF">2017-03-08T05:49:11Z</dcterms:modified>
</cp:coreProperties>
</file>